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1" r:id="rId3"/>
    <p:sldId id="279" r:id="rId4"/>
    <p:sldId id="282" r:id="rId5"/>
    <p:sldId id="280" r:id="rId6"/>
    <p:sldId id="257" r:id="rId7"/>
    <p:sldId id="258" r:id="rId8"/>
    <p:sldId id="278" r:id="rId9"/>
    <p:sldId id="260" r:id="rId10"/>
    <p:sldId id="271" r:id="rId11"/>
    <p:sldId id="270" r:id="rId12"/>
    <p:sldId id="272" r:id="rId13"/>
    <p:sldId id="274" r:id="rId14"/>
    <p:sldId id="277" r:id="rId15"/>
    <p:sldId id="261" r:id="rId16"/>
    <p:sldId id="275" r:id="rId17"/>
    <p:sldId id="259" r:id="rId18"/>
    <p:sldId id="262" r:id="rId19"/>
    <p:sldId id="263" r:id="rId20"/>
    <p:sldId id="264" r:id="rId21"/>
    <p:sldId id="265" r:id="rId22"/>
    <p:sldId id="266" r:id="rId23"/>
    <p:sldId id="267" r:id="rId24"/>
    <p:sldId id="268" r:id="rId25"/>
    <p:sldId id="269" r:id="rId26"/>
    <p:sldId id="273" r:id="rId27"/>
    <p:sldId id="276"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70" autoAdjust="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01948-0CEF-4CB3-AF4C-3EE6464C8881}" type="datetimeFigureOut">
              <a:rPr lang="zh-CN" altLang="en-US" smtClean="0"/>
              <a:t>2018/3/28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C516E-6407-445D-8A52-218467D01D1D}" type="slidenum">
              <a:rPr lang="zh-CN" altLang="en-US" smtClean="0"/>
              <a:t>‹#›</a:t>
            </a:fld>
            <a:endParaRPr lang="zh-CN" altLang="en-US"/>
          </a:p>
        </p:txBody>
      </p:sp>
    </p:spTree>
    <p:extLst>
      <p:ext uri="{BB962C8B-B14F-4D97-AF65-F5344CB8AC3E}">
        <p14:creationId xmlns:p14="http://schemas.microsoft.com/office/powerpoint/2010/main" val="2377172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BC516E-6407-445D-8A52-218467D01D1D}" type="slidenum">
              <a:rPr lang="zh-CN" altLang="en-US" smtClean="0"/>
              <a:t>2</a:t>
            </a:fld>
            <a:endParaRPr lang="zh-CN" altLang="en-US"/>
          </a:p>
        </p:txBody>
      </p:sp>
    </p:spTree>
    <p:extLst>
      <p:ext uri="{BB962C8B-B14F-4D97-AF65-F5344CB8AC3E}">
        <p14:creationId xmlns:p14="http://schemas.microsoft.com/office/powerpoint/2010/main" val="1058509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do not care about the  format, we care about </a:t>
            </a:r>
            <a:r>
              <a:rPr lang="en-US" altLang="zh-CN"/>
              <a:t>what information we need.</a:t>
            </a:r>
            <a:endParaRPr lang="zh-CN" altLang="en-US"/>
          </a:p>
        </p:txBody>
      </p:sp>
      <p:sp>
        <p:nvSpPr>
          <p:cNvPr id="4" name="灯片编号占位符 3"/>
          <p:cNvSpPr>
            <a:spLocks noGrp="1"/>
          </p:cNvSpPr>
          <p:nvPr>
            <p:ph type="sldNum" sz="quarter" idx="10"/>
          </p:nvPr>
        </p:nvSpPr>
        <p:spPr/>
        <p:txBody>
          <a:bodyPr/>
          <a:lstStyle/>
          <a:p>
            <a:fld id="{E2BC516E-6407-445D-8A52-218467D01D1D}" type="slidenum">
              <a:rPr lang="zh-CN" altLang="en-US" smtClean="0"/>
              <a:t>3</a:t>
            </a:fld>
            <a:endParaRPr lang="zh-CN" altLang="en-US"/>
          </a:p>
        </p:txBody>
      </p:sp>
    </p:spTree>
    <p:extLst>
      <p:ext uri="{BB962C8B-B14F-4D97-AF65-F5344CB8AC3E}">
        <p14:creationId xmlns:p14="http://schemas.microsoft.com/office/powerpoint/2010/main" val="3824137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2018/3/28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Life software project</a:t>
            </a:r>
            <a:endParaRPr lang="zh-CN" altLang="en-US" dirty="0"/>
          </a:p>
        </p:txBody>
      </p:sp>
      <p:sp>
        <p:nvSpPr>
          <p:cNvPr id="3" name="副标题 2"/>
          <p:cNvSpPr>
            <a:spLocks noGrp="1"/>
          </p:cNvSpPr>
          <p:nvPr>
            <p:ph type="subTitle" idx="1"/>
          </p:nvPr>
        </p:nvSpPr>
        <p:spPr/>
        <p:txBody>
          <a:bodyPr/>
          <a:lstStyle/>
          <a:p>
            <a:r>
              <a:rPr lang="en-US" altLang="zh-CN" dirty="0"/>
              <a:t>Developed based on PYTHON 3.6</a:t>
            </a:r>
            <a:endParaRPr lang="zh-CN" altLang="en-US" dirty="0"/>
          </a:p>
        </p:txBody>
      </p:sp>
    </p:spTree>
    <p:extLst>
      <p:ext uri="{BB962C8B-B14F-4D97-AF65-F5344CB8AC3E}">
        <p14:creationId xmlns:p14="http://schemas.microsoft.com/office/powerpoint/2010/main" val="3414481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83F3B-497A-4C72-B2CE-A7075021E24B}"/>
              </a:ext>
            </a:extLst>
          </p:cNvPr>
          <p:cNvSpPr>
            <a:spLocks noGrp="1"/>
          </p:cNvSpPr>
          <p:nvPr>
            <p:ph type="title"/>
          </p:nvPr>
        </p:nvSpPr>
        <p:spPr>
          <a:xfrm>
            <a:off x="179512" y="-27384"/>
            <a:ext cx="8373616" cy="1143000"/>
          </a:xfrm>
        </p:spPr>
        <p:txBody>
          <a:bodyPr>
            <a:normAutofit fontScale="90000"/>
          </a:bodyPr>
          <a:lstStyle/>
          <a:p>
            <a:r>
              <a:rPr lang="en-US" altLang="zh-CN" dirty="0"/>
              <a:t>web interaction 0.1 edition is available</a:t>
            </a:r>
            <a:br>
              <a:rPr lang="en-US" altLang="zh-CN" dirty="0"/>
            </a:br>
            <a:r>
              <a:rPr lang="en-US" altLang="zh-CN" sz="1200" dirty="0"/>
              <a:t>(python3 autodemo.py)</a:t>
            </a:r>
            <a:endParaRPr lang="zh-CN" altLang="en-US" dirty="0"/>
          </a:p>
        </p:txBody>
      </p:sp>
      <p:pic>
        <p:nvPicPr>
          <p:cNvPr id="7" name="图片 6">
            <a:extLst>
              <a:ext uri="{FF2B5EF4-FFF2-40B4-BE49-F238E27FC236}">
                <a16:creationId xmlns:a16="http://schemas.microsoft.com/office/drawing/2014/main" id="{48B5E2F7-45AC-4315-B909-3365828F0B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914935"/>
            <a:ext cx="9892993" cy="3184134"/>
          </a:xfrm>
          <a:prstGeom prst="rect">
            <a:avLst/>
          </a:prstGeom>
        </p:spPr>
      </p:pic>
      <p:pic>
        <p:nvPicPr>
          <p:cNvPr id="9" name="图片 8">
            <a:extLst>
              <a:ext uri="{FF2B5EF4-FFF2-40B4-BE49-F238E27FC236}">
                <a16:creationId xmlns:a16="http://schemas.microsoft.com/office/drawing/2014/main" id="{7154D5BD-8636-4778-8F01-689FC94045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629131"/>
            <a:ext cx="9892993" cy="1661960"/>
          </a:xfrm>
          <a:prstGeom prst="rect">
            <a:avLst/>
          </a:prstGeom>
        </p:spPr>
      </p:pic>
      <p:sp>
        <p:nvSpPr>
          <p:cNvPr id="11" name="内容占位符 10">
            <a:extLst>
              <a:ext uri="{FF2B5EF4-FFF2-40B4-BE49-F238E27FC236}">
                <a16:creationId xmlns:a16="http://schemas.microsoft.com/office/drawing/2014/main" id="{3FF4043A-AD3F-4113-97AD-ED9FAC7CC82D}"/>
              </a:ext>
            </a:extLst>
          </p:cNvPr>
          <p:cNvSpPr>
            <a:spLocks noGrp="1"/>
          </p:cNvSpPr>
          <p:nvPr>
            <p:ph idx="1"/>
          </p:nvPr>
        </p:nvSpPr>
        <p:spPr>
          <a:xfrm>
            <a:off x="457200" y="1268760"/>
            <a:ext cx="8229600" cy="4857403"/>
          </a:xfrm>
        </p:spPr>
        <p:txBody>
          <a:bodyPr>
            <a:normAutofit/>
          </a:bodyPr>
          <a:lstStyle/>
          <a:p>
            <a:r>
              <a:rPr lang="zh-CN" altLang="en-US" sz="1800" dirty="0"/>
              <a:t>鸭进化项目的下机数据</a:t>
            </a:r>
          </a:p>
        </p:txBody>
      </p:sp>
      <p:sp>
        <p:nvSpPr>
          <p:cNvPr id="12" name="文本框 11">
            <a:extLst>
              <a:ext uri="{FF2B5EF4-FFF2-40B4-BE49-F238E27FC236}">
                <a16:creationId xmlns:a16="http://schemas.microsoft.com/office/drawing/2014/main" id="{0813BB2C-1713-45CB-852C-FC07D35AC0DB}"/>
              </a:ext>
            </a:extLst>
          </p:cNvPr>
          <p:cNvSpPr txBox="1"/>
          <p:nvPr/>
        </p:nvSpPr>
        <p:spPr>
          <a:xfrm>
            <a:off x="457200" y="3323404"/>
            <a:ext cx="8884381" cy="646331"/>
          </a:xfrm>
          <a:prstGeom prst="rect">
            <a:avLst/>
          </a:prstGeom>
          <a:noFill/>
        </p:spPr>
        <p:txBody>
          <a:bodyPr wrap="square" rtlCol="0">
            <a:spAutoFit/>
          </a:bodyPr>
          <a:lstStyle/>
          <a:p>
            <a:r>
              <a:rPr lang="zh-CN" altLang="en-US" dirty="0"/>
              <a:t>对每个个体，每个</a:t>
            </a:r>
            <a:r>
              <a:rPr lang="en-US" altLang="zh-CN" dirty="0"/>
              <a:t>pool</a:t>
            </a:r>
            <a:r>
              <a:rPr lang="zh-CN" altLang="en-US" dirty="0"/>
              <a:t>的群体，生成</a:t>
            </a:r>
            <a:r>
              <a:rPr lang="en-US" altLang="zh-CN" dirty="0"/>
              <a:t>bam</a:t>
            </a:r>
            <a:r>
              <a:rPr lang="zh-CN" altLang="en-US" dirty="0"/>
              <a:t>，之后排序，去</a:t>
            </a:r>
            <a:r>
              <a:rPr lang="en-US" altLang="zh-CN" dirty="0"/>
              <a:t>PCR</a:t>
            </a:r>
            <a:r>
              <a:rPr lang="zh-CN" altLang="en-US" dirty="0"/>
              <a:t>重复，去比对</a:t>
            </a:r>
            <a:r>
              <a:rPr lang="en-US" altLang="zh-CN" dirty="0"/>
              <a:t>reads</a:t>
            </a:r>
            <a:r>
              <a:rPr lang="zh-CN" altLang="en-US" dirty="0"/>
              <a:t>，</a:t>
            </a:r>
            <a:r>
              <a:rPr lang="en-US" altLang="zh-CN" dirty="0"/>
              <a:t>realignment</a:t>
            </a:r>
            <a:r>
              <a:rPr lang="zh-CN" altLang="en-US" dirty="0"/>
              <a:t>，等数据处理</a:t>
            </a:r>
          </a:p>
        </p:txBody>
      </p:sp>
      <p:sp>
        <p:nvSpPr>
          <p:cNvPr id="14" name="标题 1">
            <a:extLst>
              <a:ext uri="{FF2B5EF4-FFF2-40B4-BE49-F238E27FC236}">
                <a16:creationId xmlns:a16="http://schemas.microsoft.com/office/drawing/2014/main" id="{CCC90815-9A9D-46BE-8333-4D5D0DB5B523}"/>
              </a:ext>
            </a:extLst>
          </p:cNvPr>
          <p:cNvSpPr txBox="1">
            <a:spLocks/>
          </p:cNvSpPr>
          <p:nvPr/>
        </p:nvSpPr>
        <p:spPr>
          <a:xfrm>
            <a:off x="-1" y="485800"/>
            <a:ext cx="9144001"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800" dirty="0"/>
              <a:t>以鸭的进化项目的</a:t>
            </a:r>
            <a:r>
              <a:rPr lang="en-US" altLang="zh-CN" sz="1800" dirty="0"/>
              <a:t>PCA</a:t>
            </a:r>
            <a:r>
              <a:rPr lang="zh-CN" altLang="en-US" sz="1800" dirty="0"/>
              <a:t>，早期选择，</a:t>
            </a:r>
            <a:r>
              <a:rPr lang="en-US" altLang="zh-CN" sz="1800" dirty="0" err="1"/>
              <a:t>dadi</a:t>
            </a:r>
            <a:r>
              <a:rPr lang="zh-CN" altLang="en-US" sz="1800" dirty="0"/>
              <a:t>等分析为例。使用该</a:t>
            </a:r>
            <a:r>
              <a:rPr lang="en-US" altLang="zh-CN" sz="1800" dirty="0"/>
              <a:t>web system</a:t>
            </a:r>
            <a:r>
              <a:rPr lang="zh-CN" altLang="en-US" sz="1800" dirty="0"/>
              <a:t>辅助进行分析</a:t>
            </a:r>
          </a:p>
        </p:txBody>
      </p:sp>
    </p:spTree>
    <p:extLst>
      <p:ext uri="{BB962C8B-B14F-4D97-AF65-F5344CB8AC3E}">
        <p14:creationId xmlns:p14="http://schemas.microsoft.com/office/powerpoint/2010/main" val="2437686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17EDE-D911-4F82-A70B-60772E67DB7F}"/>
              </a:ext>
            </a:extLst>
          </p:cNvPr>
          <p:cNvSpPr>
            <a:spLocks noGrp="1"/>
          </p:cNvSpPr>
          <p:nvPr>
            <p:ph type="title"/>
          </p:nvPr>
        </p:nvSpPr>
        <p:spPr>
          <a:xfrm>
            <a:off x="457200" y="-315416"/>
            <a:ext cx="8229600" cy="1143000"/>
          </a:xfrm>
        </p:spPr>
        <p:txBody>
          <a:bodyPr>
            <a:normAutofit/>
          </a:bodyPr>
          <a:lstStyle/>
          <a:p>
            <a:r>
              <a:rPr lang="zh-CN" altLang="en-US" sz="3600" dirty="0"/>
              <a:t>鸭进化项目的下机数据的目录结构</a:t>
            </a:r>
          </a:p>
        </p:txBody>
      </p:sp>
      <p:sp>
        <p:nvSpPr>
          <p:cNvPr id="3" name="内容占位符 2">
            <a:extLst>
              <a:ext uri="{FF2B5EF4-FFF2-40B4-BE49-F238E27FC236}">
                <a16:creationId xmlns:a16="http://schemas.microsoft.com/office/drawing/2014/main" id="{0CE0E951-8840-42C6-B8C8-C87A5F5D41E5}"/>
              </a:ext>
            </a:extLst>
          </p:cNvPr>
          <p:cNvSpPr>
            <a:spLocks noGrp="1"/>
          </p:cNvSpPr>
          <p:nvPr>
            <p:ph idx="1"/>
          </p:nvPr>
        </p:nvSpPr>
        <p:spPr>
          <a:xfrm>
            <a:off x="3380029" y="3075760"/>
            <a:ext cx="45719" cy="1577376"/>
          </a:xfrm>
        </p:spPr>
        <p:txBody>
          <a:bodyPr>
            <a:normAutofit fontScale="70000" lnSpcReduction="20000"/>
          </a:bodyPr>
          <a:lstStyle/>
          <a:p>
            <a:pPr marL="0" indent="0">
              <a:buNone/>
            </a:pPr>
            <a:r>
              <a:rPr lang="en-US" altLang="zh-CN" dirty="0"/>
              <a:t>:::::</a:t>
            </a:r>
            <a:endParaRPr lang="zh-CN" altLang="en-US" dirty="0"/>
          </a:p>
        </p:txBody>
      </p:sp>
      <p:sp>
        <p:nvSpPr>
          <p:cNvPr id="4" name="左大括号 3">
            <a:extLst>
              <a:ext uri="{FF2B5EF4-FFF2-40B4-BE49-F238E27FC236}">
                <a16:creationId xmlns:a16="http://schemas.microsoft.com/office/drawing/2014/main" id="{F9FB39E7-7288-47E2-97CB-3930A5F3D91C}"/>
              </a:ext>
            </a:extLst>
          </p:cNvPr>
          <p:cNvSpPr/>
          <p:nvPr/>
        </p:nvSpPr>
        <p:spPr>
          <a:xfrm>
            <a:off x="539552" y="2116832"/>
            <a:ext cx="432048" cy="314096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F587196F-F9C4-4142-A100-E7564F9C8D65}"/>
              </a:ext>
            </a:extLst>
          </p:cNvPr>
          <p:cNvSpPr/>
          <p:nvPr/>
        </p:nvSpPr>
        <p:spPr>
          <a:xfrm>
            <a:off x="1228800" y="1586093"/>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mallard</a:t>
            </a:r>
            <a:endParaRPr lang="zh-CN" altLang="en-US" dirty="0"/>
          </a:p>
        </p:txBody>
      </p:sp>
      <p:sp>
        <p:nvSpPr>
          <p:cNvPr id="6" name="椭圆 5">
            <a:extLst>
              <a:ext uri="{FF2B5EF4-FFF2-40B4-BE49-F238E27FC236}">
                <a16:creationId xmlns:a16="http://schemas.microsoft.com/office/drawing/2014/main" id="{4547E08F-9C18-4134-9F2D-F67416B6C1A8}"/>
              </a:ext>
            </a:extLst>
          </p:cNvPr>
          <p:cNvSpPr/>
          <p:nvPr/>
        </p:nvSpPr>
        <p:spPr>
          <a:xfrm>
            <a:off x="1588840" y="3571543"/>
            <a:ext cx="288032" cy="3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144355E7-C4E5-436A-A8D1-F8AC1C5E7EAC}"/>
              </a:ext>
            </a:extLst>
          </p:cNvPr>
          <p:cNvSpPr/>
          <p:nvPr/>
        </p:nvSpPr>
        <p:spPr>
          <a:xfrm>
            <a:off x="1235589" y="2299394"/>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Spotbille</a:t>
            </a:r>
            <a:endParaRPr lang="zh-CN" altLang="en-US" dirty="0"/>
          </a:p>
        </p:txBody>
      </p:sp>
      <p:sp>
        <p:nvSpPr>
          <p:cNvPr id="8" name="矩形 7">
            <a:extLst>
              <a:ext uri="{FF2B5EF4-FFF2-40B4-BE49-F238E27FC236}">
                <a16:creationId xmlns:a16="http://schemas.microsoft.com/office/drawing/2014/main" id="{48ED4ADC-F5E6-4A5F-9A4D-501FB7777A96}"/>
              </a:ext>
            </a:extLst>
          </p:cNvPr>
          <p:cNvSpPr/>
          <p:nvPr/>
        </p:nvSpPr>
        <p:spPr>
          <a:xfrm>
            <a:off x="1228800" y="2998588"/>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beijing</a:t>
            </a:r>
            <a:endParaRPr lang="zh-CN" altLang="en-US" dirty="0"/>
          </a:p>
        </p:txBody>
      </p:sp>
      <p:sp>
        <p:nvSpPr>
          <p:cNvPr id="10" name="矩形 9">
            <a:extLst>
              <a:ext uri="{FF2B5EF4-FFF2-40B4-BE49-F238E27FC236}">
                <a16:creationId xmlns:a16="http://schemas.microsoft.com/office/drawing/2014/main" id="{5D892A55-3E74-478D-8A2C-6D9B81F3D600}"/>
              </a:ext>
            </a:extLst>
          </p:cNvPr>
          <p:cNvSpPr/>
          <p:nvPr/>
        </p:nvSpPr>
        <p:spPr>
          <a:xfrm>
            <a:off x="1228800" y="4220379"/>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gaoyou</a:t>
            </a:r>
            <a:endParaRPr lang="zh-CN" altLang="en-US" dirty="0"/>
          </a:p>
        </p:txBody>
      </p:sp>
      <p:sp>
        <p:nvSpPr>
          <p:cNvPr id="12" name="矩形 11">
            <a:extLst>
              <a:ext uri="{FF2B5EF4-FFF2-40B4-BE49-F238E27FC236}">
                <a16:creationId xmlns:a16="http://schemas.microsoft.com/office/drawing/2014/main" id="{3723ACE2-F3E6-49DF-BA20-F045FFF6AC10}"/>
              </a:ext>
            </a:extLst>
          </p:cNvPr>
          <p:cNvSpPr/>
          <p:nvPr/>
        </p:nvSpPr>
        <p:spPr>
          <a:xfrm>
            <a:off x="1235589" y="5771591"/>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shaoxing</a:t>
            </a:r>
            <a:endParaRPr lang="zh-CN" altLang="en-US" dirty="0"/>
          </a:p>
        </p:txBody>
      </p:sp>
      <p:sp>
        <p:nvSpPr>
          <p:cNvPr id="13" name="矩形 12">
            <a:extLst>
              <a:ext uri="{FF2B5EF4-FFF2-40B4-BE49-F238E27FC236}">
                <a16:creationId xmlns:a16="http://schemas.microsoft.com/office/drawing/2014/main" id="{E69C80DB-F36B-468C-B918-ED39396BDF26}"/>
              </a:ext>
            </a:extLst>
          </p:cNvPr>
          <p:cNvSpPr/>
          <p:nvPr/>
        </p:nvSpPr>
        <p:spPr>
          <a:xfrm>
            <a:off x="2838942" y="562695"/>
            <a:ext cx="1229001" cy="264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fh_female21_58</a:t>
            </a:r>
            <a:endParaRPr lang="zh-CN" altLang="en-US" sz="1200" dirty="0"/>
          </a:p>
        </p:txBody>
      </p:sp>
      <p:sp>
        <p:nvSpPr>
          <p:cNvPr id="18" name="左大括号 17">
            <a:extLst>
              <a:ext uri="{FF2B5EF4-FFF2-40B4-BE49-F238E27FC236}">
                <a16:creationId xmlns:a16="http://schemas.microsoft.com/office/drawing/2014/main" id="{E494BE32-F0A2-4627-8532-7737F60286B7}"/>
              </a:ext>
            </a:extLst>
          </p:cNvPr>
          <p:cNvSpPr/>
          <p:nvPr/>
        </p:nvSpPr>
        <p:spPr>
          <a:xfrm>
            <a:off x="2483768" y="687791"/>
            <a:ext cx="263989" cy="157218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左大括号 18">
            <a:extLst>
              <a:ext uri="{FF2B5EF4-FFF2-40B4-BE49-F238E27FC236}">
                <a16:creationId xmlns:a16="http://schemas.microsoft.com/office/drawing/2014/main" id="{23C42B1B-A873-4D5A-B7AC-0D90FEBFD381}"/>
              </a:ext>
            </a:extLst>
          </p:cNvPr>
          <p:cNvSpPr/>
          <p:nvPr/>
        </p:nvSpPr>
        <p:spPr>
          <a:xfrm>
            <a:off x="2405933" y="5137528"/>
            <a:ext cx="263989" cy="157218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左大括号 20">
            <a:extLst>
              <a:ext uri="{FF2B5EF4-FFF2-40B4-BE49-F238E27FC236}">
                <a16:creationId xmlns:a16="http://schemas.microsoft.com/office/drawing/2014/main" id="{1D06B720-ABF7-4DFB-89AF-C0DA72561F19}"/>
              </a:ext>
            </a:extLst>
          </p:cNvPr>
          <p:cNvSpPr/>
          <p:nvPr/>
        </p:nvSpPr>
        <p:spPr>
          <a:xfrm>
            <a:off x="2389113" y="4094961"/>
            <a:ext cx="263989" cy="6488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14D530D-D0B1-4020-9490-43D6F569903E}"/>
              </a:ext>
            </a:extLst>
          </p:cNvPr>
          <p:cNvSpPr/>
          <p:nvPr/>
        </p:nvSpPr>
        <p:spPr>
          <a:xfrm>
            <a:off x="2817453" y="3998079"/>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CFC3A4E-2D13-4245-ABF7-E0C6AA0E174B}"/>
              </a:ext>
            </a:extLst>
          </p:cNvPr>
          <p:cNvSpPr/>
          <p:nvPr/>
        </p:nvSpPr>
        <p:spPr>
          <a:xfrm>
            <a:off x="2817453" y="4580436"/>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内容占位符 2">
            <a:extLst>
              <a:ext uri="{FF2B5EF4-FFF2-40B4-BE49-F238E27FC236}">
                <a16:creationId xmlns:a16="http://schemas.microsoft.com/office/drawing/2014/main" id="{7445ABB9-5105-45D5-B17D-BF172AC536D3}"/>
              </a:ext>
            </a:extLst>
          </p:cNvPr>
          <p:cNvSpPr txBox="1">
            <a:spLocks/>
          </p:cNvSpPr>
          <p:nvPr/>
        </p:nvSpPr>
        <p:spPr>
          <a:xfrm>
            <a:off x="3347864" y="5445224"/>
            <a:ext cx="144016" cy="1008112"/>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ltLang="zh-CN" dirty="0"/>
              <a:t>::::</a:t>
            </a:r>
            <a:endParaRPr lang="zh-CN" altLang="en-US" dirty="0"/>
          </a:p>
        </p:txBody>
      </p:sp>
      <p:sp>
        <p:nvSpPr>
          <p:cNvPr id="25" name="内容占位符 2">
            <a:extLst>
              <a:ext uri="{FF2B5EF4-FFF2-40B4-BE49-F238E27FC236}">
                <a16:creationId xmlns:a16="http://schemas.microsoft.com/office/drawing/2014/main" id="{1BE9F99B-BB53-4ED6-9CEF-4F58CCFE07ED}"/>
              </a:ext>
            </a:extLst>
          </p:cNvPr>
          <p:cNvSpPr txBox="1">
            <a:spLocks/>
          </p:cNvSpPr>
          <p:nvPr/>
        </p:nvSpPr>
        <p:spPr>
          <a:xfrm>
            <a:off x="3347864" y="980728"/>
            <a:ext cx="144016" cy="1008112"/>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ltLang="zh-CN" dirty="0"/>
              <a:t>::::</a:t>
            </a:r>
            <a:endParaRPr lang="zh-CN" altLang="en-US" dirty="0"/>
          </a:p>
        </p:txBody>
      </p:sp>
      <p:sp>
        <p:nvSpPr>
          <p:cNvPr id="26" name="内容占位符 2">
            <a:extLst>
              <a:ext uri="{FF2B5EF4-FFF2-40B4-BE49-F238E27FC236}">
                <a16:creationId xmlns:a16="http://schemas.microsoft.com/office/drawing/2014/main" id="{0D10F284-93B9-4BE6-853F-D364A347EDB1}"/>
              </a:ext>
            </a:extLst>
          </p:cNvPr>
          <p:cNvSpPr txBox="1">
            <a:spLocks/>
          </p:cNvSpPr>
          <p:nvPr/>
        </p:nvSpPr>
        <p:spPr>
          <a:xfrm>
            <a:off x="1616014" y="4664495"/>
            <a:ext cx="144016" cy="1008112"/>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ltLang="zh-CN" dirty="0"/>
              <a:t>::::</a:t>
            </a:r>
            <a:endParaRPr lang="zh-CN" altLang="en-US" dirty="0"/>
          </a:p>
        </p:txBody>
      </p:sp>
      <p:sp>
        <p:nvSpPr>
          <p:cNvPr id="27" name="矩形 26">
            <a:extLst>
              <a:ext uri="{FF2B5EF4-FFF2-40B4-BE49-F238E27FC236}">
                <a16:creationId xmlns:a16="http://schemas.microsoft.com/office/drawing/2014/main" id="{58A5A3F7-73FF-4099-999A-B1F702333298}"/>
              </a:ext>
            </a:extLst>
          </p:cNvPr>
          <p:cNvSpPr/>
          <p:nvPr/>
        </p:nvSpPr>
        <p:spPr>
          <a:xfrm>
            <a:off x="2838942" y="2166949"/>
            <a:ext cx="1229001" cy="264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fh_female21_58</a:t>
            </a:r>
            <a:endParaRPr lang="zh-CN" altLang="en-US" sz="1200" dirty="0"/>
          </a:p>
        </p:txBody>
      </p:sp>
      <p:sp>
        <p:nvSpPr>
          <p:cNvPr id="28" name="矩形 27">
            <a:extLst>
              <a:ext uri="{FF2B5EF4-FFF2-40B4-BE49-F238E27FC236}">
                <a16:creationId xmlns:a16="http://schemas.microsoft.com/office/drawing/2014/main" id="{B1CAFCFB-D274-4AC4-8BDF-2AD8FCC58B2D}"/>
              </a:ext>
            </a:extLst>
          </p:cNvPr>
          <p:cNvSpPr/>
          <p:nvPr/>
        </p:nvSpPr>
        <p:spPr>
          <a:xfrm>
            <a:off x="2817453" y="4995608"/>
            <a:ext cx="1229001" cy="264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fh_female21_58</a:t>
            </a:r>
            <a:endParaRPr lang="zh-CN" altLang="en-US" sz="1200" dirty="0"/>
          </a:p>
        </p:txBody>
      </p:sp>
      <p:sp>
        <p:nvSpPr>
          <p:cNvPr id="29" name="矩形 28">
            <a:extLst>
              <a:ext uri="{FF2B5EF4-FFF2-40B4-BE49-F238E27FC236}">
                <a16:creationId xmlns:a16="http://schemas.microsoft.com/office/drawing/2014/main" id="{1615E720-1EF7-4CA2-A718-E102D2A5DD48}"/>
              </a:ext>
            </a:extLst>
          </p:cNvPr>
          <p:cNvSpPr/>
          <p:nvPr/>
        </p:nvSpPr>
        <p:spPr>
          <a:xfrm>
            <a:off x="2788387" y="6638063"/>
            <a:ext cx="1229001" cy="264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fh_female21_58</a:t>
            </a:r>
            <a:endParaRPr lang="zh-CN" altLang="en-US" sz="1200" dirty="0"/>
          </a:p>
        </p:txBody>
      </p:sp>
      <p:sp>
        <p:nvSpPr>
          <p:cNvPr id="30" name="左大括号 29">
            <a:extLst>
              <a:ext uri="{FF2B5EF4-FFF2-40B4-BE49-F238E27FC236}">
                <a16:creationId xmlns:a16="http://schemas.microsoft.com/office/drawing/2014/main" id="{6DA38D08-B1CA-4D63-921A-4F47EA8288C2}"/>
              </a:ext>
            </a:extLst>
          </p:cNvPr>
          <p:cNvSpPr/>
          <p:nvPr/>
        </p:nvSpPr>
        <p:spPr>
          <a:xfrm>
            <a:off x="4159128" y="2009535"/>
            <a:ext cx="263989" cy="6488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9B1EE0A9-C468-4F91-8209-B44274B93B5B}"/>
              </a:ext>
            </a:extLst>
          </p:cNvPr>
          <p:cNvSpPr/>
          <p:nvPr/>
        </p:nvSpPr>
        <p:spPr>
          <a:xfrm>
            <a:off x="4587468" y="1912653"/>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8BB5F177-56E1-4889-A77C-188391A98F15}"/>
              </a:ext>
            </a:extLst>
          </p:cNvPr>
          <p:cNvSpPr/>
          <p:nvPr/>
        </p:nvSpPr>
        <p:spPr>
          <a:xfrm>
            <a:off x="4587468" y="2495010"/>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左大括号 32">
            <a:extLst>
              <a:ext uri="{FF2B5EF4-FFF2-40B4-BE49-F238E27FC236}">
                <a16:creationId xmlns:a16="http://schemas.microsoft.com/office/drawing/2014/main" id="{0EA110D6-2B72-4705-8EAF-3936FDBA5D57}"/>
              </a:ext>
            </a:extLst>
          </p:cNvPr>
          <p:cNvSpPr/>
          <p:nvPr/>
        </p:nvSpPr>
        <p:spPr>
          <a:xfrm>
            <a:off x="4159128" y="398947"/>
            <a:ext cx="263989" cy="6488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2EBB3D7-0F99-4491-978F-3C9D97E95A59}"/>
              </a:ext>
            </a:extLst>
          </p:cNvPr>
          <p:cNvSpPr/>
          <p:nvPr/>
        </p:nvSpPr>
        <p:spPr>
          <a:xfrm>
            <a:off x="4587468" y="302065"/>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64B43483-7047-477D-971D-FD4C78D9A83F}"/>
              </a:ext>
            </a:extLst>
          </p:cNvPr>
          <p:cNvSpPr/>
          <p:nvPr/>
        </p:nvSpPr>
        <p:spPr>
          <a:xfrm>
            <a:off x="4587468" y="884422"/>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左大括号 35">
            <a:extLst>
              <a:ext uri="{FF2B5EF4-FFF2-40B4-BE49-F238E27FC236}">
                <a16:creationId xmlns:a16="http://schemas.microsoft.com/office/drawing/2014/main" id="{5A045CE8-3245-4D81-A06C-5E7342DC1857}"/>
              </a:ext>
            </a:extLst>
          </p:cNvPr>
          <p:cNvSpPr/>
          <p:nvPr/>
        </p:nvSpPr>
        <p:spPr>
          <a:xfrm>
            <a:off x="4159128" y="4813110"/>
            <a:ext cx="263989" cy="6488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063477CB-77D5-452A-BCC0-CB11C9D96479}"/>
              </a:ext>
            </a:extLst>
          </p:cNvPr>
          <p:cNvSpPr/>
          <p:nvPr/>
        </p:nvSpPr>
        <p:spPr>
          <a:xfrm>
            <a:off x="4587468" y="4716228"/>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FD2E356-5C8C-4E45-B76B-16488FC9BF24}"/>
              </a:ext>
            </a:extLst>
          </p:cNvPr>
          <p:cNvSpPr/>
          <p:nvPr/>
        </p:nvSpPr>
        <p:spPr>
          <a:xfrm>
            <a:off x="4587468" y="5298585"/>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左大括号 38">
            <a:extLst>
              <a:ext uri="{FF2B5EF4-FFF2-40B4-BE49-F238E27FC236}">
                <a16:creationId xmlns:a16="http://schemas.microsoft.com/office/drawing/2014/main" id="{FE14C566-24DC-402C-A8EE-88D031D909EE}"/>
              </a:ext>
            </a:extLst>
          </p:cNvPr>
          <p:cNvSpPr/>
          <p:nvPr/>
        </p:nvSpPr>
        <p:spPr>
          <a:xfrm>
            <a:off x="4143660" y="6442790"/>
            <a:ext cx="263989" cy="6488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D860C5C8-EF0B-4A80-AF09-756F21277337}"/>
              </a:ext>
            </a:extLst>
          </p:cNvPr>
          <p:cNvSpPr/>
          <p:nvPr/>
        </p:nvSpPr>
        <p:spPr>
          <a:xfrm>
            <a:off x="4572000" y="6345908"/>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3DFFBBE2-C43D-4F58-8355-BC6958C6B455}"/>
              </a:ext>
            </a:extLst>
          </p:cNvPr>
          <p:cNvSpPr/>
          <p:nvPr/>
        </p:nvSpPr>
        <p:spPr>
          <a:xfrm>
            <a:off x="4572000" y="6928265"/>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29120737-1B56-4AEB-8FB8-71D7DE7F2DFE}"/>
              </a:ext>
            </a:extLst>
          </p:cNvPr>
          <p:cNvSpPr txBox="1"/>
          <p:nvPr/>
        </p:nvSpPr>
        <p:spPr>
          <a:xfrm>
            <a:off x="5623455" y="1909512"/>
            <a:ext cx="3456384" cy="1754326"/>
          </a:xfrm>
          <a:prstGeom prst="rect">
            <a:avLst/>
          </a:prstGeom>
          <a:noFill/>
        </p:spPr>
        <p:txBody>
          <a:bodyPr wrap="square" rtlCol="0">
            <a:spAutoFit/>
          </a:bodyPr>
          <a:lstStyle/>
          <a:p>
            <a:r>
              <a:rPr lang="zh-CN" altLang="en-US" dirty="0"/>
              <a:t>图例：                     目录</a:t>
            </a:r>
            <a:endParaRPr lang="en-US" altLang="zh-CN" dirty="0"/>
          </a:p>
          <a:p>
            <a:endParaRPr lang="en-US" altLang="zh-CN" dirty="0"/>
          </a:p>
          <a:p>
            <a:r>
              <a:rPr lang="en-US" altLang="zh-CN" dirty="0"/>
              <a:t>                                 </a:t>
            </a:r>
            <a:r>
              <a:rPr lang="zh-CN" altLang="en-US" dirty="0"/>
              <a:t>文件（            后                                                </a:t>
            </a:r>
            <a:r>
              <a:rPr lang="en-US" altLang="zh-CN" dirty="0"/>
              <a:t>		</a:t>
            </a:r>
            <a:r>
              <a:rPr lang="zh-CN" altLang="en-US" dirty="0"/>
              <a:t>缀名为</a:t>
            </a:r>
            <a:r>
              <a:rPr lang="en-US" altLang="zh-CN" dirty="0"/>
              <a:t>2.fq.gz/</a:t>
            </a:r>
          </a:p>
          <a:p>
            <a:r>
              <a:rPr lang="en-US" altLang="zh-CN" dirty="0"/>
              <a:t>		1.fq.gz</a:t>
            </a:r>
            <a:r>
              <a:rPr lang="zh-CN" altLang="en-US" dirty="0"/>
              <a:t>的文件）</a:t>
            </a:r>
            <a:endParaRPr lang="en-US" altLang="zh-CN" dirty="0"/>
          </a:p>
          <a:p>
            <a:r>
              <a:rPr lang="en-US" altLang="zh-CN" dirty="0"/>
              <a:t>   </a:t>
            </a:r>
            <a:endParaRPr lang="zh-CN" altLang="en-US" dirty="0"/>
          </a:p>
        </p:txBody>
      </p:sp>
      <p:sp>
        <p:nvSpPr>
          <p:cNvPr id="43" name="矩形 42">
            <a:extLst>
              <a:ext uri="{FF2B5EF4-FFF2-40B4-BE49-F238E27FC236}">
                <a16:creationId xmlns:a16="http://schemas.microsoft.com/office/drawing/2014/main" id="{21928780-0E19-4C72-BBDC-B95832C5CBA4}"/>
              </a:ext>
            </a:extLst>
          </p:cNvPr>
          <p:cNvSpPr/>
          <p:nvPr/>
        </p:nvSpPr>
        <p:spPr>
          <a:xfrm>
            <a:off x="6338544" y="1955916"/>
            <a:ext cx="1008112" cy="3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a:extLst>
              <a:ext uri="{FF2B5EF4-FFF2-40B4-BE49-F238E27FC236}">
                <a16:creationId xmlns:a16="http://schemas.microsoft.com/office/drawing/2014/main" id="{E8404474-D764-48DB-A40F-ED37D12F7512}"/>
              </a:ext>
            </a:extLst>
          </p:cNvPr>
          <p:cNvSpPr/>
          <p:nvPr/>
        </p:nvSpPr>
        <p:spPr>
          <a:xfrm>
            <a:off x="6751540" y="2495010"/>
            <a:ext cx="288032" cy="3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27D75CC4-2633-4BA9-B5C2-BD1B746F9E06}"/>
              </a:ext>
            </a:extLst>
          </p:cNvPr>
          <p:cNvSpPr/>
          <p:nvPr/>
        </p:nvSpPr>
        <p:spPr>
          <a:xfrm>
            <a:off x="8192311" y="2531815"/>
            <a:ext cx="218300" cy="23044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A78EDC9C-114E-465B-9D1F-6F5C1CE500BA}"/>
              </a:ext>
            </a:extLst>
          </p:cNvPr>
          <p:cNvSpPr/>
          <p:nvPr/>
        </p:nvSpPr>
        <p:spPr>
          <a:xfrm>
            <a:off x="8460432" y="2531814"/>
            <a:ext cx="218300" cy="23044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8E2D431E-8424-4A8F-80D3-9DBE6C12A5B8}"/>
              </a:ext>
            </a:extLst>
          </p:cNvPr>
          <p:cNvSpPr txBox="1"/>
          <p:nvPr/>
        </p:nvSpPr>
        <p:spPr>
          <a:xfrm>
            <a:off x="99428" y="2957046"/>
            <a:ext cx="489731" cy="2862322"/>
          </a:xfrm>
          <a:prstGeom prst="rect">
            <a:avLst/>
          </a:prstGeom>
          <a:noFill/>
        </p:spPr>
        <p:txBody>
          <a:bodyPr wrap="square" rtlCol="0">
            <a:spAutoFit/>
          </a:bodyPr>
          <a:lstStyle/>
          <a:p>
            <a:r>
              <a:rPr lang="zh-CN" altLang="en-US" i="1" dirty="0"/>
              <a:t>项目根路径</a:t>
            </a:r>
            <a:endParaRPr lang="en-US" altLang="zh-CN" i="1" dirty="0"/>
          </a:p>
          <a:p>
            <a:r>
              <a:rPr lang="zh-CN" altLang="en-US" i="1" dirty="0"/>
              <a:t>（层级为</a:t>
            </a:r>
            <a:r>
              <a:rPr lang="en-US" altLang="zh-CN" i="1" dirty="0">
                <a:solidFill>
                  <a:srgbClr val="FF0000"/>
                </a:solidFill>
              </a:rPr>
              <a:t>0</a:t>
            </a:r>
            <a:r>
              <a:rPr lang="zh-CN" altLang="en-US" i="1" dirty="0"/>
              <a:t>）</a:t>
            </a:r>
            <a:endParaRPr lang="zh-CN" altLang="en-US" dirty="0"/>
          </a:p>
        </p:txBody>
      </p:sp>
      <p:sp>
        <p:nvSpPr>
          <p:cNvPr id="48" name="文本框 47">
            <a:extLst>
              <a:ext uri="{FF2B5EF4-FFF2-40B4-BE49-F238E27FC236}">
                <a16:creationId xmlns:a16="http://schemas.microsoft.com/office/drawing/2014/main" id="{D061939B-E255-4FDB-A136-A88CAFE5006D}"/>
              </a:ext>
            </a:extLst>
          </p:cNvPr>
          <p:cNvSpPr txBox="1"/>
          <p:nvPr/>
        </p:nvSpPr>
        <p:spPr>
          <a:xfrm>
            <a:off x="1228800" y="668358"/>
            <a:ext cx="942894" cy="646331"/>
          </a:xfrm>
          <a:prstGeom prst="rect">
            <a:avLst/>
          </a:prstGeom>
          <a:noFill/>
        </p:spPr>
        <p:txBody>
          <a:bodyPr wrap="square" rtlCol="0">
            <a:spAutoFit/>
          </a:bodyPr>
          <a:lstStyle/>
          <a:p>
            <a:r>
              <a:rPr lang="zh-CN" altLang="en-US" i="1" dirty="0"/>
              <a:t>（层级为</a:t>
            </a:r>
            <a:r>
              <a:rPr lang="en-US" altLang="zh-CN" i="1" dirty="0">
                <a:solidFill>
                  <a:srgbClr val="FF0000"/>
                </a:solidFill>
              </a:rPr>
              <a:t>1</a:t>
            </a:r>
            <a:r>
              <a:rPr lang="zh-CN" altLang="en-US" i="1" dirty="0"/>
              <a:t>）</a:t>
            </a:r>
            <a:endParaRPr lang="zh-CN" altLang="en-US" dirty="0"/>
          </a:p>
        </p:txBody>
      </p:sp>
      <p:sp>
        <p:nvSpPr>
          <p:cNvPr id="51" name="箭头: 下 50">
            <a:extLst>
              <a:ext uri="{FF2B5EF4-FFF2-40B4-BE49-F238E27FC236}">
                <a16:creationId xmlns:a16="http://schemas.microsoft.com/office/drawing/2014/main" id="{CF71946E-8532-4145-A93F-4A1672CC58A9}"/>
              </a:ext>
            </a:extLst>
          </p:cNvPr>
          <p:cNvSpPr/>
          <p:nvPr/>
        </p:nvSpPr>
        <p:spPr>
          <a:xfrm>
            <a:off x="1728866" y="1253637"/>
            <a:ext cx="47762" cy="2334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191A9EB-D2F5-4C9A-9105-D924BA6DF9DC}"/>
              </a:ext>
            </a:extLst>
          </p:cNvPr>
          <p:cNvSpPr txBox="1"/>
          <p:nvPr/>
        </p:nvSpPr>
        <p:spPr>
          <a:xfrm>
            <a:off x="2948425" y="2581359"/>
            <a:ext cx="942894" cy="646331"/>
          </a:xfrm>
          <a:prstGeom prst="rect">
            <a:avLst/>
          </a:prstGeom>
          <a:noFill/>
        </p:spPr>
        <p:txBody>
          <a:bodyPr wrap="square" rtlCol="0">
            <a:spAutoFit/>
          </a:bodyPr>
          <a:lstStyle/>
          <a:p>
            <a:r>
              <a:rPr lang="zh-CN" altLang="en-US" i="1" dirty="0"/>
              <a:t>（层级为</a:t>
            </a:r>
            <a:r>
              <a:rPr lang="en-US" altLang="zh-CN" i="1" dirty="0">
                <a:solidFill>
                  <a:srgbClr val="FF0000"/>
                </a:solidFill>
              </a:rPr>
              <a:t>2</a:t>
            </a:r>
            <a:r>
              <a:rPr lang="zh-CN" altLang="en-US" i="1" dirty="0"/>
              <a:t>）</a:t>
            </a:r>
            <a:endParaRPr lang="zh-CN" altLang="en-US" dirty="0"/>
          </a:p>
        </p:txBody>
      </p:sp>
      <p:sp>
        <p:nvSpPr>
          <p:cNvPr id="54" name="文本框 53">
            <a:extLst>
              <a:ext uri="{FF2B5EF4-FFF2-40B4-BE49-F238E27FC236}">
                <a16:creationId xmlns:a16="http://schemas.microsoft.com/office/drawing/2014/main" id="{3B20EBE9-408D-457F-9A94-DA95CBD90FFE}"/>
              </a:ext>
            </a:extLst>
          </p:cNvPr>
          <p:cNvSpPr txBox="1"/>
          <p:nvPr/>
        </p:nvSpPr>
        <p:spPr>
          <a:xfrm>
            <a:off x="5625886" y="3723571"/>
            <a:ext cx="3456384" cy="923330"/>
          </a:xfrm>
          <a:prstGeom prst="rect">
            <a:avLst/>
          </a:prstGeom>
          <a:noFill/>
        </p:spPr>
        <p:txBody>
          <a:bodyPr wrap="square" rtlCol="0">
            <a:spAutoFit/>
          </a:bodyPr>
          <a:lstStyle/>
          <a:p>
            <a:r>
              <a:rPr lang="zh-CN" altLang="en-US" dirty="0"/>
              <a:t>告诉系统，将根目录下第二层每个目录下面的一对</a:t>
            </a:r>
            <a:r>
              <a:rPr lang="en-US" altLang="zh-CN" dirty="0" err="1"/>
              <a:t>fq</a:t>
            </a:r>
            <a:r>
              <a:rPr lang="zh-CN" altLang="en-US" dirty="0"/>
              <a:t>数据，用</a:t>
            </a:r>
            <a:r>
              <a:rPr lang="en-US" altLang="zh-CN" dirty="0"/>
              <a:t>bowtie2</a:t>
            </a:r>
            <a:r>
              <a:rPr lang="zh-CN" altLang="en-US" dirty="0"/>
              <a:t>生成一个</a:t>
            </a:r>
            <a:r>
              <a:rPr lang="en-US" altLang="zh-CN" dirty="0"/>
              <a:t>bam</a:t>
            </a:r>
            <a:r>
              <a:rPr lang="zh-CN" altLang="en-US" dirty="0"/>
              <a:t>文件！</a:t>
            </a:r>
          </a:p>
        </p:txBody>
      </p:sp>
      <p:pic>
        <p:nvPicPr>
          <p:cNvPr id="55" name="图片 54">
            <a:extLst>
              <a:ext uri="{FF2B5EF4-FFF2-40B4-BE49-F238E27FC236}">
                <a16:creationId xmlns:a16="http://schemas.microsoft.com/office/drawing/2014/main" id="{F5221D32-905D-4A09-8480-F4141B942619}"/>
              </a:ext>
            </a:extLst>
          </p:cNvPr>
          <p:cNvPicPr>
            <a:picLocks noChangeAspect="1"/>
          </p:cNvPicPr>
          <p:nvPr/>
        </p:nvPicPr>
        <p:blipFill>
          <a:blip r:embed="rId3"/>
          <a:stretch>
            <a:fillRect/>
          </a:stretch>
        </p:blipFill>
        <p:spPr>
          <a:xfrm>
            <a:off x="1359783" y="823183"/>
            <a:ext cx="3619048" cy="5114286"/>
          </a:xfrm>
          <a:prstGeom prst="rect">
            <a:avLst/>
          </a:prstGeom>
        </p:spPr>
      </p:pic>
    </p:spTree>
    <p:extLst>
      <p:ext uri="{BB962C8B-B14F-4D97-AF65-F5344CB8AC3E}">
        <p14:creationId xmlns:p14="http://schemas.microsoft.com/office/powerpoint/2010/main" val="125437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ppt_x"/>
                                          </p:val>
                                        </p:tav>
                                        <p:tav tm="100000">
                                          <p:val>
                                            <p:strVal val="#ppt_x"/>
                                          </p:val>
                                        </p:tav>
                                      </p:tavLst>
                                    </p:anim>
                                    <p:anim calcmode="lin" valueType="num">
                                      <p:cBhvr additive="base">
                                        <p:cTn id="1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AB8AB-3E25-432E-83EA-D51EF5C9EC8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91D5396-4CA4-497D-B4B0-27334FF2B7E3}"/>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081080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2B638-0990-4218-B779-D27038B7C44E}"/>
              </a:ext>
            </a:extLst>
          </p:cNvPr>
          <p:cNvSpPr>
            <a:spLocks noGrp="1"/>
          </p:cNvSpPr>
          <p:nvPr>
            <p:ph type="title"/>
          </p:nvPr>
        </p:nvSpPr>
        <p:spPr/>
        <p:txBody>
          <a:bodyPr>
            <a:normAutofit/>
          </a:bodyPr>
          <a:lstStyle/>
          <a:p>
            <a:r>
              <a:rPr lang="zh-CN" altLang="en-US" sz="2000" dirty="0"/>
              <a:t>程序运行监控</a:t>
            </a:r>
          </a:p>
        </p:txBody>
      </p:sp>
      <p:sp>
        <p:nvSpPr>
          <p:cNvPr id="3" name="内容占位符 2">
            <a:extLst>
              <a:ext uri="{FF2B5EF4-FFF2-40B4-BE49-F238E27FC236}">
                <a16:creationId xmlns:a16="http://schemas.microsoft.com/office/drawing/2014/main" id="{92E43E9B-9F19-4B62-89A3-58A1142400EE}"/>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5276E20E-9131-4D69-85AB-FD8DFE132803}"/>
              </a:ext>
            </a:extLst>
          </p:cNvPr>
          <p:cNvPicPr>
            <a:picLocks noChangeAspect="1"/>
          </p:cNvPicPr>
          <p:nvPr/>
        </p:nvPicPr>
        <p:blipFill>
          <a:blip r:embed="rId2"/>
          <a:stretch>
            <a:fillRect/>
          </a:stretch>
        </p:blipFill>
        <p:spPr>
          <a:xfrm>
            <a:off x="0" y="1575027"/>
            <a:ext cx="9144000" cy="3707946"/>
          </a:xfrm>
          <a:prstGeom prst="rect">
            <a:avLst/>
          </a:prstGeom>
        </p:spPr>
      </p:pic>
      <p:pic>
        <p:nvPicPr>
          <p:cNvPr id="5" name="图片 4">
            <a:extLst>
              <a:ext uri="{FF2B5EF4-FFF2-40B4-BE49-F238E27FC236}">
                <a16:creationId xmlns:a16="http://schemas.microsoft.com/office/drawing/2014/main" id="{3E792C5F-C723-4237-99F7-AC79E91D6114}"/>
              </a:ext>
            </a:extLst>
          </p:cNvPr>
          <p:cNvPicPr>
            <a:picLocks noChangeAspect="1"/>
          </p:cNvPicPr>
          <p:nvPr/>
        </p:nvPicPr>
        <p:blipFill>
          <a:blip r:embed="rId3"/>
          <a:stretch>
            <a:fillRect/>
          </a:stretch>
        </p:blipFill>
        <p:spPr>
          <a:xfrm>
            <a:off x="0" y="1553308"/>
            <a:ext cx="9144000" cy="3751384"/>
          </a:xfrm>
          <a:prstGeom prst="rect">
            <a:avLst/>
          </a:prstGeom>
        </p:spPr>
      </p:pic>
    </p:spTree>
    <p:extLst>
      <p:ext uri="{BB962C8B-B14F-4D97-AF65-F5344CB8AC3E}">
        <p14:creationId xmlns:p14="http://schemas.microsoft.com/office/powerpoint/2010/main" val="3166729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332656"/>
            <a:ext cx="8363272" cy="6048672"/>
          </a:xfrm>
        </p:spPr>
        <p:txBody>
          <a:bodyPr>
            <a:normAutofit/>
          </a:bodyPr>
          <a:lstStyle/>
          <a:p>
            <a:r>
              <a:rPr lang="en-US" altLang="zh-CN" dirty="0"/>
              <a:t>Life is an integrated biology data analyses and observation system.</a:t>
            </a:r>
          </a:p>
          <a:p>
            <a:r>
              <a:rPr lang="en-US" altLang="zh-CN" dirty="0"/>
              <a:t>Current version mainly consist of </a:t>
            </a:r>
            <a:r>
              <a:rPr lang="en-US" altLang="zh-CN" b="1" dirty="0">
                <a:solidFill>
                  <a:srgbClr val="FF0000"/>
                </a:solidFill>
              </a:rPr>
              <a:t>four modules</a:t>
            </a:r>
            <a:r>
              <a:rPr lang="en-US" altLang="zh-CN" dirty="0"/>
              <a:t>, focus on evolutionary genomics, and could be easily develop into more powerful system to visualize, mine and analyses genomes data.</a:t>
            </a:r>
          </a:p>
          <a:p>
            <a:r>
              <a:rPr lang="en-US" altLang="zh-CN" dirty="0"/>
              <a:t>As its idea is to simple the data process and to manipulate the data in a intuition way that is in line with mathematic description of evolutionary theory. It is easy to vary to design new idea, observation, calculation and theory.</a:t>
            </a:r>
            <a:endParaRPr lang="zh-CN" altLang="en-US" dirty="0"/>
          </a:p>
        </p:txBody>
      </p:sp>
    </p:spTree>
    <p:extLst>
      <p:ext uri="{BB962C8B-B14F-4D97-AF65-F5344CB8AC3E}">
        <p14:creationId xmlns:p14="http://schemas.microsoft.com/office/powerpoint/2010/main" val="1011378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4000" b="1" dirty="0"/>
              <a:t>data management and visualization module</a:t>
            </a:r>
            <a:endParaRPr lang="zh-CN" altLang="en-US" sz="4000" b="1" dirty="0"/>
          </a:p>
        </p:txBody>
      </p:sp>
      <p:sp>
        <p:nvSpPr>
          <p:cNvPr id="3" name="内容占位符 2"/>
          <p:cNvSpPr>
            <a:spLocks noGrp="1"/>
          </p:cNvSpPr>
          <p:nvPr>
            <p:ph idx="1"/>
          </p:nvPr>
        </p:nvSpPr>
        <p:spPr>
          <a:xfrm>
            <a:off x="457201" y="1600201"/>
            <a:ext cx="3209600" cy="2147192"/>
          </a:xfrm>
        </p:spPr>
        <p:txBody>
          <a:bodyPr>
            <a:normAutofit/>
          </a:bodyPr>
          <a:lstStyle/>
          <a:p>
            <a:pPr marL="0" indent="0">
              <a:buNone/>
            </a:pPr>
            <a:r>
              <a:rPr lang="en-US" altLang="zh-CN" sz="2400" dirty="0"/>
              <a:t>Variants data management were designed based on population genetics</a:t>
            </a:r>
            <a:endParaRPr lang="zh-CN" altLang="en-US" sz="2400"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b="1" dirty="0">
                <a:solidFill>
                  <a:srgbClr val="FF0000"/>
                </a:solidFill>
              </a:rPr>
              <a:t>Module 1</a:t>
            </a:r>
            <a:endParaRPr lang="zh-CN" altLang="en-US" dirty="0">
              <a:solidFill>
                <a:srgbClr val="FF0000"/>
              </a:solidFill>
            </a:endParaRPr>
          </a:p>
        </p:txBody>
      </p:sp>
      <p:sp>
        <p:nvSpPr>
          <p:cNvPr id="5" name="流程图: 联系 4"/>
          <p:cNvSpPr/>
          <p:nvPr/>
        </p:nvSpPr>
        <p:spPr>
          <a:xfrm>
            <a:off x="3649547" y="5207633"/>
            <a:ext cx="936104"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lumMod val="95000"/>
                    <a:lumOff val="5000"/>
                  </a:schemeClr>
                </a:solidFill>
              </a:rPr>
              <a:t>vcf</a:t>
            </a:r>
            <a:endParaRPr lang="zh-CN" altLang="en-US" dirty="0">
              <a:solidFill>
                <a:schemeClr val="tx1">
                  <a:lumMod val="95000"/>
                  <a:lumOff val="5000"/>
                </a:schemeClr>
              </a:solidFill>
            </a:endParaRPr>
          </a:p>
        </p:txBody>
      </p:sp>
      <p:sp>
        <p:nvSpPr>
          <p:cNvPr id="6" name="右箭头 5"/>
          <p:cNvSpPr/>
          <p:nvPr/>
        </p:nvSpPr>
        <p:spPr>
          <a:xfrm rot="1672818">
            <a:off x="2744428" y="5179056"/>
            <a:ext cx="928672" cy="843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rot="20369654">
            <a:off x="4621459" y="5459902"/>
            <a:ext cx="866504" cy="816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柱形 7"/>
          <p:cNvSpPr/>
          <p:nvPr/>
        </p:nvSpPr>
        <p:spPr>
          <a:xfrm>
            <a:off x="5609862" y="4116724"/>
            <a:ext cx="792088" cy="144016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Data</a:t>
            </a:r>
          </a:p>
          <a:p>
            <a:pPr algn="ctr"/>
            <a:r>
              <a:rPr lang="en-US" altLang="zh-CN" dirty="0">
                <a:solidFill>
                  <a:schemeClr val="tx1"/>
                </a:solidFill>
              </a:rPr>
              <a:t>base</a:t>
            </a:r>
            <a:endParaRPr lang="zh-CN" altLang="en-US" dirty="0">
              <a:solidFill>
                <a:schemeClr val="tx1"/>
              </a:solidFill>
            </a:endParaRPr>
          </a:p>
        </p:txBody>
      </p:sp>
      <p:sp>
        <p:nvSpPr>
          <p:cNvPr id="9" name="TextBox 8"/>
          <p:cNvSpPr txBox="1"/>
          <p:nvPr/>
        </p:nvSpPr>
        <p:spPr>
          <a:xfrm>
            <a:off x="3050925" y="4732832"/>
            <a:ext cx="615874" cy="369332"/>
          </a:xfrm>
          <a:prstGeom prst="rect">
            <a:avLst/>
          </a:prstGeom>
          <a:noFill/>
        </p:spPr>
        <p:txBody>
          <a:bodyPr wrap="none" rtlCol="0">
            <a:spAutoFit/>
          </a:bodyPr>
          <a:lstStyle/>
          <a:p>
            <a:r>
              <a:rPr lang="en-US" altLang="zh-CN" dirty="0"/>
              <a:t>m:m</a:t>
            </a:r>
            <a:endParaRPr lang="zh-CN" altLang="en-US" dirty="0"/>
          </a:p>
        </p:txBody>
      </p:sp>
      <p:sp>
        <p:nvSpPr>
          <p:cNvPr id="10" name="TextBox 9"/>
          <p:cNvSpPr txBox="1"/>
          <p:nvPr/>
        </p:nvSpPr>
        <p:spPr>
          <a:xfrm>
            <a:off x="4683020" y="5126056"/>
            <a:ext cx="615874" cy="369332"/>
          </a:xfrm>
          <a:prstGeom prst="rect">
            <a:avLst/>
          </a:prstGeom>
          <a:noFill/>
        </p:spPr>
        <p:txBody>
          <a:bodyPr wrap="none" rtlCol="0">
            <a:spAutoFit/>
          </a:bodyPr>
          <a:lstStyle/>
          <a:p>
            <a:r>
              <a:rPr lang="en-US" altLang="zh-CN" dirty="0"/>
              <a:t>m:m</a:t>
            </a:r>
            <a:endParaRPr lang="zh-CN" altLang="en-US" dirty="0"/>
          </a:p>
        </p:txBody>
      </p:sp>
      <p:sp>
        <p:nvSpPr>
          <p:cNvPr id="11" name="流程图: 联系 10"/>
          <p:cNvSpPr/>
          <p:nvPr/>
        </p:nvSpPr>
        <p:spPr>
          <a:xfrm>
            <a:off x="481195" y="4150150"/>
            <a:ext cx="936104"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lumMod val="95000"/>
                    <a:lumOff val="5000"/>
                  </a:schemeClr>
                </a:solidFill>
              </a:rPr>
              <a:t>fq</a:t>
            </a:r>
            <a:endParaRPr lang="zh-CN" altLang="en-US" dirty="0">
              <a:solidFill>
                <a:schemeClr val="tx1">
                  <a:lumMod val="95000"/>
                  <a:lumOff val="5000"/>
                </a:schemeClr>
              </a:solidFill>
            </a:endParaRPr>
          </a:p>
        </p:txBody>
      </p:sp>
      <p:sp>
        <p:nvSpPr>
          <p:cNvPr id="12" name="流程图: 联系 11"/>
          <p:cNvSpPr/>
          <p:nvPr/>
        </p:nvSpPr>
        <p:spPr>
          <a:xfrm>
            <a:off x="2114821" y="4150150"/>
            <a:ext cx="936104"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95000"/>
                    <a:lumOff val="5000"/>
                  </a:schemeClr>
                </a:solidFill>
              </a:rPr>
              <a:t>bam</a:t>
            </a:r>
            <a:endParaRPr lang="zh-CN" altLang="en-US" dirty="0">
              <a:solidFill>
                <a:schemeClr val="tx1">
                  <a:lumMod val="95000"/>
                  <a:lumOff val="5000"/>
                </a:schemeClr>
              </a:solidFill>
            </a:endParaRPr>
          </a:p>
        </p:txBody>
      </p:sp>
      <p:sp>
        <p:nvSpPr>
          <p:cNvPr id="13" name="流程图: 联系 12"/>
          <p:cNvSpPr/>
          <p:nvPr/>
        </p:nvSpPr>
        <p:spPr>
          <a:xfrm>
            <a:off x="3666799" y="3194285"/>
            <a:ext cx="936104"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lumMod val="95000"/>
                    <a:lumOff val="5000"/>
                  </a:schemeClr>
                </a:solidFill>
              </a:rPr>
              <a:t>vcf</a:t>
            </a:r>
            <a:endParaRPr lang="zh-CN" altLang="en-US" dirty="0">
              <a:solidFill>
                <a:schemeClr val="tx1">
                  <a:lumMod val="95000"/>
                  <a:lumOff val="5000"/>
                </a:schemeClr>
              </a:solidFill>
            </a:endParaRPr>
          </a:p>
        </p:txBody>
      </p:sp>
      <p:sp>
        <p:nvSpPr>
          <p:cNvPr id="14" name="右箭头 13"/>
          <p:cNvSpPr/>
          <p:nvPr/>
        </p:nvSpPr>
        <p:spPr>
          <a:xfrm>
            <a:off x="1401200" y="4587131"/>
            <a:ext cx="648072" cy="879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14"/>
          <p:cNvSpPr/>
          <p:nvPr/>
        </p:nvSpPr>
        <p:spPr>
          <a:xfrm rot="19509990">
            <a:off x="2895526" y="3929509"/>
            <a:ext cx="828394" cy="598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rot="1456379">
            <a:off x="4587990" y="3998993"/>
            <a:ext cx="904591" cy="1081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p:cNvSpPr txBox="1"/>
          <p:nvPr/>
        </p:nvSpPr>
        <p:spPr>
          <a:xfrm>
            <a:off x="1429618" y="4120639"/>
            <a:ext cx="615874" cy="369332"/>
          </a:xfrm>
          <a:prstGeom prst="rect">
            <a:avLst/>
          </a:prstGeom>
          <a:noFill/>
        </p:spPr>
        <p:txBody>
          <a:bodyPr wrap="none" rtlCol="0">
            <a:spAutoFit/>
          </a:bodyPr>
          <a:lstStyle/>
          <a:p>
            <a:r>
              <a:rPr lang="en-US" altLang="zh-CN" dirty="0"/>
              <a:t>m:m</a:t>
            </a:r>
            <a:endParaRPr lang="zh-CN" altLang="en-US" dirty="0"/>
          </a:p>
        </p:txBody>
      </p:sp>
      <p:sp>
        <p:nvSpPr>
          <p:cNvPr id="18" name="TextBox 17"/>
          <p:cNvSpPr txBox="1"/>
          <p:nvPr/>
        </p:nvSpPr>
        <p:spPr>
          <a:xfrm>
            <a:off x="3017574" y="3448989"/>
            <a:ext cx="548548" cy="369332"/>
          </a:xfrm>
          <a:prstGeom prst="rect">
            <a:avLst/>
          </a:prstGeom>
          <a:noFill/>
        </p:spPr>
        <p:txBody>
          <a:bodyPr wrap="none" rtlCol="0">
            <a:spAutoFit/>
          </a:bodyPr>
          <a:lstStyle/>
          <a:p>
            <a:r>
              <a:rPr lang="en-US" altLang="zh-CN" dirty="0"/>
              <a:t>m:1</a:t>
            </a:r>
            <a:endParaRPr lang="zh-CN" altLang="en-US" dirty="0"/>
          </a:p>
        </p:txBody>
      </p:sp>
      <p:sp>
        <p:nvSpPr>
          <p:cNvPr id="19" name="TextBox 18"/>
          <p:cNvSpPr txBox="1"/>
          <p:nvPr/>
        </p:nvSpPr>
        <p:spPr>
          <a:xfrm>
            <a:off x="4805966" y="3573016"/>
            <a:ext cx="2397414" cy="646331"/>
          </a:xfrm>
          <a:prstGeom prst="rect">
            <a:avLst/>
          </a:prstGeom>
          <a:noFill/>
        </p:spPr>
        <p:txBody>
          <a:bodyPr wrap="square" rtlCol="0">
            <a:spAutoFit/>
          </a:bodyPr>
          <a:lstStyle/>
          <a:p>
            <a:pPr algn="ctr"/>
            <a:r>
              <a:rPr lang="en-US" altLang="zh-CN" dirty="0"/>
              <a:t>Produce </a:t>
            </a:r>
            <a:r>
              <a:rPr lang="en-US" altLang="zh-CN" dirty="0" err="1"/>
              <a:t>snp_toplevel</a:t>
            </a:r>
            <a:r>
              <a:rPr lang="en-US" altLang="zh-CN" dirty="0"/>
              <a:t> </a:t>
            </a:r>
            <a:r>
              <a:rPr lang="zh-CN" altLang="en-US" dirty="0"/>
              <a:t> </a:t>
            </a:r>
            <a:r>
              <a:rPr lang="en-US" altLang="zh-CN" dirty="0"/>
              <a:t>table </a:t>
            </a:r>
            <a:endParaRPr lang="zh-CN" altLang="en-US" dirty="0"/>
          </a:p>
        </p:txBody>
      </p:sp>
      <p:sp>
        <p:nvSpPr>
          <p:cNvPr id="21" name="TextBox 20"/>
          <p:cNvSpPr txBox="1"/>
          <p:nvPr/>
        </p:nvSpPr>
        <p:spPr>
          <a:xfrm>
            <a:off x="4551010" y="4176862"/>
            <a:ext cx="481222" cy="369332"/>
          </a:xfrm>
          <a:prstGeom prst="rect">
            <a:avLst/>
          </a:prstGeom>
          <a:noFill/>
        </p:spPr>
        <p:txBody>
          <a:bodyPr wrap="none" rtlCol="0">
            <a:spAutoFit/>
          </a:bodyPr>
          <a:lstStyle/>
          <a:p>
            <a:r>
              <a:rPr lang="en-US" altLang="zh-CN" dirty="0"/>
              <a:t>1:1</a:t>
            </a:r>
            <a:endParaRPr lang="zh-CN" altLang="en-US" dirty="0"/>
          </a:p>
        </p:txBody>
      </p:sp>
      <p:sp>
        <p:nvSpPr>
          <p:cNvPr id="22" name="矩形 21"/>
          <p:cNvSpPr/>
          <p:nvPr/>
        </p:nvSpPr>
        <p:spPr>
          <a:xfrm>
            <a:off x="7239285" y="2924273"/>
            <a:ext cx="1083621" cy="98500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lumMod val="95000"/>
                    <a:lumOff val="5000"/>
                  </a:schemeClr>
                </a:solidFill>
              </a:rPr>
              <a:t>snp_toplevel</a:t>
            </a:r>
            <a:r>
              <a:rPr lang="zh-CN" altLang="en-US" dirty="0">
                <a:solidFill>
                  <a:schemeClr val="tx1">
                    <a:lumMod val="95000"/>
                    <a:lumOff val="5000"/>
                  </a:schemeClr>
                </a:solidFill>
              </a:rPr>
              <a:t> </a:t>
            </a:r>
            <a:r>
              <a:rPr lang="en-US" altLang="zh-CN" dirty="0">
                <a:solidFill>
                  <a:schemeClr val="tx1">
                    <a:lumMod val="95000"/>
                    <a:lumOff val="5000"/>
                  </a:schemeClr>
                </a:solidFill>
              </a:rPr>
              <a:t>table</a:t>
            </a:r>
            <a:endParaRPr lang="zh-CN" altLang="en-US" dirty="0">
              <a:solidFill>
                <a:schemeClr val="tx1">
                  <a:lumMod val="95000"/>
                  <a:lumOff val="5000"/>
                </a:schemeClr>
              </a:solidFill>
            </a:endParaRPr>
          </a:p>
        </p:txBody>
      </p:sp>
      <p:sp>
        <p:nvSpPr>
          <p:cNvPr id="23" name="矩形 22"/>
          <p:cNvSpPr/>
          <p:nvPr/>
        </p:nvSpPr>
        <p:spPr>
          <a:xfrm>
            <a:off x="7249841" y="3983242"/>
            <a:ext cx="1083621" cy="98500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Table correspond to </a:t>
            </a:r>
            <a:r>
              <a:rPr lang="en-US" altLang="zh-CN" dirty="0" err="1">
                <a:solidFill>
                  <a:schemeClr val="tx1"/>
                </a:solidFill>
              </a:rPr>
              <a:t>vcf</a:t>
            </a:r>
            <a:endParaRPr lang="zh-CN" altLang="en-US" dirty="0">
              <a:solidFill>
                <a:schemeClr val="tx1"/>
              </a:solidFill>
            </a:endParaRPr>
          </a:p>
        </p:txBody>
      </p:sp>
      <p:sp>
        <p:nvSpPr>
          <p:cNvPr id="24" name="矩形 23"/>
          <p:cNvSpPr/>
          <p:nvPr/>
        </p:nvSpPr>
        <p:spPr>
          <a:xfrm>
            <a:off x="7243350" y="5482423"/>
            <a:ext cx="1083621" cy="98500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95000"/>
                    <a:lumOff val="5000"/>
                  </a:schemeClr>
                </a:solidFill>
              </a:rPr>
              <a:t>Table correspond to </a:t>
            </a:r>
            <a:r>
              <a:rPr lang="en-US" altLang="zh-CN" dirty="0" err="1">
                <a:solidFill>
                  <a:schemeClr val="tx1">
                    <a:lumMod val="95000"/>
                    <a:lumOff val="5000"/>
                  </a:schemeClr>
                </a:solidFill>
              </a:rPr>
              <a:t>vcf</a:t>
            </a:r>
            <a:endParaRPr lang="zh-CN" altLang="en-US" dirty="0">
              <a:solidFill>
                <a:schemeClr val="tx1">
                  <a:lumMod val="95000"/>
                  <a:lumOff val="5000"/>
                </a:schemeClr>
              </a:solidFill>
            </a:endParaRPr>
          </a:p>
        </p:txBody>
      </p:sp>
      <p:sp>
        <p:nvSpPr>
          <p:cNvPr id="25" name="TextBox 24"/>
          <p:cNvSpPr txBox="1"/>
          <p:nvPr/>
        </p:nvSpPr>
        <p:spPr>
          <a:xfrm>
            <a:off x="7239286" y="5092513"/>
            <a:ext cx="877163" cy="369332"/>
          </a:xfrm>
          <a:prstGeom prst="rect">
            <a:avLst/>
          </a:prstGeom>
          <a:noFill/>
        </p:spPr>
        <p:txBody>
          <a:bodyPr wrap="none" rtlCol="0">
            <a:spAutoFit/>
          </a:bodyPr>
          <a:lstStyle/>
          <a:p>
            <a:r>
              <a:rPr lang="zh-CN" altLang="en-US" dirty="0">
                <a:solidFill>
                  <a:srgbClr val="00B0F0"/>
                </a:solidFill>
              </a:rPr>
              <a:t>。。。</a:t>
            </a:r>
          </a:p>
        </p:txBody>
      </p:sp>
      <p:sp>
        <p:nvSpPr>
          <p:cNvPr id="26" name="流程图: 联系 25"/>
          <p:cNvSpPr/>
          <p:nvPr/>
        </p:nvSpPr>
        <p:spPr>
          <a:xfrm>
            <a:off x="3923928" y="2132856"/>
            <a:ext cx="1735349"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95000"/>
                    <a:lumOff val="5000"/>
                  </a:schemeClr>
                </a:solidFill>
              </a:rPr>
              <a:t>Ref </a:t>
            </a:r>
            <a:r>
              <a:rPr lang="en-US" altLang="zh-CN" dirty="0" err="1">
                <a:solidFill>
                  <a:schemeClr val="tx1">
                    <a:lumMod val="95000"/>
                    <a:lumOff val="5000"/>
                  </a:schemeClr>
                </a:solidFill>
              </a:rPr>
              <a:t>fasta</a:t>
            </a:r>
            <a:r>
              <a:rPr lang="en-US" altLang="zh-CN" dirty="0">
                <a:solidFill>
                  <a:schemeClr val="tx1">
                    <a:lumMod val="95000"/>
                    <a:lumOff val="5000"/>
                  </a:schemeClr>
                </a:solidFill>
              </a:rPr>
              <a:t> of close species</a:t>
            </a:r>
            <a:endParaRPr lang="zh-CN" altLang="en-US" dirty="0">
              <a:solidFill>
                <a:schemeClr val="tx1">
                  <a:lumMod val="95000"/>
                  <a:lumOff val="5000"/>
                </a:schemeClr>
              </a:solidFill>
            </a:endParaRPr>
          </a:p>
        </p:txBody>
      </p:sp>
      <p:sp>
        <p:nvSpPr>
          <p:cNvPr id="27" name="右弧形箭头 26"/>
          <p:cNvSpPr/>
          <p:nvPr/>
        </p:nvSpPr>
        <p:spPr>
          <a:xfrm rot="6129089">
            <a:off x="5909849" y="2345955"/>
            <a:ext cx="440066" cy="2101447"/>
          </a:xfrm>
          <a:prstGeom prst="curvedLeftArrow">
            <a:avLst>
              <a:gd name="adj1" fmla="val 43230"/>
              <a:gd name="adj2" fmla="val 93978"/>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左弧形箭头 27"/>
          <p:cNvSpPr/>
          <p:nvPr/>
        </p:nvSpPr>
        <p:spPr>
          <a:xfrm rot="20055449" flipH="1">
            <a:off x="7539703" y="1302914"/>
            <a:ext cx="526960" cy="16688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上弧形箭头 28"/>
          <p:cNvSpPr/>
          <p:nvPr/>
        </p:nvSpPr>
        <p:spPr>
          <a:xfrm rot="1467459">
            <a:off x="5562252" y="2430407"/>
            <a:ext cx="2020865" cy="4687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TextBox 29"/>
          <p:cNvSpPr txBox="1"/>
          <p:nvPr/>
        </p:nvSpPr>
        <p:spPr>
          <a:xfrm>
            <a:off x="5609862" y="2791862"/>
            <a:ext cx="1645111" cy="646331"/>
          </a:xfrm>
          <a:prstGeom prst="rect">
            <a:avLst/>
          </a:prstGeom>
          <a:noFill/>
        </p:spPr>
        <p:txBody>
          <a:bodyPr wrap="square" rtlCol="0">
            <a:spAutoFit/>
          </a:bodyPr>
          <a:lstStyle/>
          <a:p>
            <a:r>
              <a:rPr lang="en-US" altLang="zh-CN" dirty="0"/>
              <a:t>Close related species</a:t>
            </a:r>
            <a:endParaRPr lang="zh-CN" altLang="en-US" dirty="0"/>
          </a:p>
        </p:txBody>
      </p:sp>
      <p:sp>
        <p:nvSpPr>
          <p:cNvPr id="31" name="TextBox 30"/>
          <p:cNvSpPr txBox="1"/>
          <p:nvPr/>
        </p:nvSpPr>
        <p:spPr>
          <a:xfrm>
            <a:off x="6990692" y="1948190"/>
            <a:ext cx="2251514" cy="369332"/>
          </a:xfrm>
          <a:prstGeom prst="rect">
            <a:avLst/>
          </a:prstGeom>
          <a:noFill/>
        </p:spPr>
        <p:txBody>
          <a:bodyPr wrap="none" rtlCol="0">
            <a:spAutoFit/>
          </a:bodyPr>
          <a:lstStyle/>
          <a:p>
            <a:r>
              <a:rPr lang="en-US" altLang="zh-CN" dirty="0"/>
              <a:t>Outgroup populations</a:t>
            </a:r>
            <a:endParaRPr lang="zh-CN" altLang="en-US" dirty="0"/>
          </a:p>
        </p:txBody>
      </p:sp>
      <p:sp>
        <p:nvSpPr>
          <p:cNvPr id="32" name="流程图: 联系 31"/>
          <p:cNvSpPr/>
          <p:nvPr/>
        </p:nvSpPr>
        <p:spPr>
          <a:xfrm>
            <a:off x="6129882" y="1124744"/>
            <a:ext cx="1109403" cy="792088"/>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lumMod val="95000"/>
                    <a:lumOff val="5000"/>
                  </a:schemeClr>
                </a:solidFill>
              </a:rPr>
              <a:t>vcf</a:t>
            </a:r>
            <a:r>
              <a:rPr lang="zh-CN" altLang="en-US" dirty="0">
                <a:solidFill>
                  <a:schemeClr val="tx1">
                    <a:lumMod val="95000"/>
                    <a:lumOff val="5000"/>
                  </a:schemeClr>
                </a:solidFill>
              </a:rPr>
              <a:t>，</a:t>
            </a:r>
            <a:r>
              <a:rPr lang="en-US" altLang="zh-CN" dirty="0">
                <a:solidFill>
                  <a:schemeClr val="tx1">
                    <a:lumMod val="95000"/>
                    <a:lumOff val="5000"/>
                  </a:schemeClr>
                </a:solidFill>
              </a:rPr>
              <a:t>depth</a:t>
            </a:r>
            <a:endParaRPr lang="zh-CN" altLang="en-US" dirty="0">
              <a:solidFill>
                <a:schemeClr val="tx1">
                  <a:lumMod val="95000"/>
                  <a:lumOff val="5000"/>
                </a:schemeClr>
              </a:solidFill>
            </a:endParaRPr>
          </a:p>
        </p:txBody>
      </p:sp>
      <p:sp>
        <p:nvSpPr>
          <p:cNvPr id="33" name="TextBox 32"/>
          <p:cNvSpPr txBox="1"/>
          <p:nvPr/>
        </p:nvSpPr>
        <p:spPr>
          <a:xfrm>
            <a:off x="4791602" y="5999721"/>
            <a:ext cx="2084654" cy="923330"/>
          </a:xfrm>
          <a:prstGeom prst="rect">
            <a:avLst/>
          </a:prstGeom>
          <a:noFill/>
        </p:spPr>
        <p:txBody>
          <a:bodyPr wrap="square" rtlCol="0">
            <a:spAutoFit/>
          </a:bodyPr>
          <a:lstStyle/>
          <a:p>
            <a:r>
              <a:rPr lang="en-US" altLang="zh-CN" dirty="0" err="1"/>
              <a:t>Toplevel</a:t>
            </a:r>
            <a:r>
              <a:rPr lang="en-US" altLang="zh-CN" dirty="0"/>
              <a:t> table could be modified dynamically </a:t>
            </a:r>
            <a:endParaRPr lang="zh-CN" altLang="en-US" dirty="0"/>
          </a:p>
        </p:txBody>
      </p:sp>
    </p:spTree>
    <p:extLst>
      <p:ext uri="{BB962C8B-B14F-4D97-AF65-F5344CB8AC3E}">
        <p14:creationId xmlns:p14="http://schemas.microsoft.com/office/powerpoint/2010/main" val="3312046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3686333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t>analysis pipeline management module</a:t>
            </a:r>
            <a:endParaRPr lang="zh-CN" altLang="en-US" sz="3600" b="1" dirty="0"/>
          </a:p>
        </p:txBody>
      </p:sp>
      <p:sp>
        <p:nvSpPr>
          <p:cNvPr id="3" name="内容占位符 2"/>
          <p:cNvSpPr>
            <a:spLocks noGrp="1"/>
          </p:cNvSpPr>
          <p:nvPr>
            <p:ph idx="1"/>
          </p:nvPr>
        </p:nvSpPr>
        <p:spPr>
          <a:xfrm>
            <a:off x="457200" y="1600200"/>
            <a:ext cx="8229600" cy="4925144"/>
          </a:xfrm>
        </p:spPr>
        <p:txBody>
          <a:bodyPr>
            <a:normAutofit fontScale="92500"/>
          </a:bodyPr>
          <a:lstStyle/>
          <a:p>
            <a:r>
              <a:rPr lang="en-US" altLang="zh-CN" dirty="0"/>
              <a:t>NGS project usually involve in multiple data sets and multiple steps. Similar commands with same parameters but different input and output could be produced by program. In this way could not only avoid mistaken by manually commands coding, reduce labor. Arrangement rule could also help to manage data and pipeline scripts.</a:t>
            </a:r>
          </a:p>
          <a:p>
            <a:r>
              <a:rPr lang="en-US" altLang="zh-CN" dirty="0"/>
              <a:t>In the base of such semi automatic arrangement, an B/S mode system is easy to implement</a:t>
            </a:r>
            <a:endParaRPr lang="zh-CN" altLang="en-US"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b="1" dirty="0">
                <a:solidFill>
                  <a:srgbClr val="FF0000"/>
                </a:solidFill>
              </a:rPr>
              <a:t>Module 2</a:t>
            </a:r>
            <a:endParaRPr lang="zh-CN" altLang="en-US" dirty="0">
              <a:solidFill>
                <a:srgbClr val="FF0000"/>
              </a:solidFill>
            </a:endParaRPr>
          </a:p>
        </p:txBody>
      </p:sp>
    </p:spTree>
    <p:extLst>
      <p:ext uri="{BB962C8B-B14F-4D97-AF65-F5344CB8AC3E}">
        <p14:creationId xmlns:p14="http://schemas.microsoft.com/office/powerpoint/2010/main" val="3881638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2778"/>
            <a:ext cx="8229600" cy="1143000"/>
          </a:xfrm>
        </p:spPr>
        <p:txBody>
          <a:bodyPr/>
          <a:lstStyle/>
          <a:p>
            <a:r>
              <a:rPr lang="en-US" altLang="zh-CN" sz="3200" dirty="0"/>
              <a:t>Data store and naming agreement</a:t>
            </a:r>
            <a:endParaRPr lang="zh-CN" altLang="en-US" sz="3200" dirty="0"/>
          </a:p>
        </p:txBody>
      </p:sp>
      <p:sp>
        <p:nvSpPr>
          <p:cNvPr id="3" name="内容占位符 2"/>
          <p:cNvSpPr>
            <a:spLocks noGrp="1"/>
          </p:cNvSpPr>
          <p:nvPr>
            <p:ph idx="1"/>
          </p:nvPr>
        </p:nvSpPr>
        <p:spPr>
          <a:xfrm>
            <a:off x="457200" y="980728"/>
            <a:ext cx="5770984" cy="5145435"/>
          </a:xfrm>
        </p:spPr>
        <p:txBody>
          <a:bodyPr/>
          <a:lstStyle/>
          <a:p>
            <a:r>
              <a:rPr lang="en-US" altLang="zh-CN" dirty="0"/>
              <a:t>Similar data were stored in different folders but same suffix. Those folders are under same folder and same depth.</a:t>
            </a:r>
          </a:p>
          <a:p>
            <a:r>
              <a:rPr lang="en-US" altLang="zh-CN" dirty="0"/>
              <a:t>For example.</a:t>
            </a:r>
          </a:p>
          <a:p>
            <a:pPr marL="0" indent="0">
              <a:buNone/>
            </a:pPr>
            <a:r>
              <a:rPr lang="en-US" altLang="zh-CN" dirty="0"/>
              <a:t>A batch of paired </a:t>
            </a:r>
          </a:p>
          <a:p>
            <a:pPr marL="0" indent="0">
              <a:buNone/>
            </a:pPr>
            <a:r>
              <a:rPr lang="en-US" altLang="zh-CN" dirty="0" err="1"/>
              <a:t>fastq</a:t>
            </a:r>
            <a:r>
              <a:rPr lang="en-US" altLang="zh-CN" dirty="0"/>
              <a:t> data.</a:t>
            </a: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01208"/>
            <a:ext cx="4248150" cy="1104900"/>
          </a:xfrm>
          <a:prstGeom prst="rect">
            <a:avLst/>
          </a:prstGeom>
        </p:spPr>
      </p:pic>
      <p:cxnSp>
        <p:nvCxnSpPr>
          <p:cNvPr id="8" name="直接箭头连接符 7"/>
          <p:cNvCxnSpPr/>
          <p:nvPr/>
        </p:nvCxnSpPr>
        <p:spPr>
          <a:xfrm flipH="1" flipV="1">
            <a:off x="4139952" y="6165304"/>
            <a:ext cx="3528392" cy="14401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8457" y="2981325"/>
            <a:ext cx="4829175" cy="3876675"/>
          </a:xfrm>
          <a:prstGeom prst="rect">
            <a:avLst/>
          </a:prstGeom>
        </p:spPr>
      </p:pic>
    </p:spTree>
    <p:extLst>
      <p:ext uri="{BB962C8B-B14F-4D97-AF65-F5344CB8AC3E}">
        <p14:creationId xmlns:p14="http://schemas.microsoft.com/office/powerpoint/2010/main" val="4097813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Scripts template </a:t>
            </a:r>
            <a:endParaRPr lang="zh-CN" altLang="en-US" sz="3200" dirty="0"/>
          </a:p>
        </p:txBody>
      </p:sp>
      <p:sp>
        <p:nvSpPr>
          <p:cNvPr id="3" name="内容占位符 2"/>
          <p:cNvSpPr>
            <a:spLocks noGrp="1"/>
          </p:cNvSpPr>
          <p:nvPr>
            <p:ph idx="1"/>
          </p:nvPr>
        </p:nvSpPr>
        <p:spPr>
          <a:xfrm>
            <a:off x="457200" y="1600200"/>
            <a:ext cx="8229600" cy="4925144"/>
          </a:xfrm>
        </p:spPr>
        <p:txBody>
          <a:bodyPr/>
          <a:lstStyle/>
          <a:p>
            <a:r>
              <a:rPr lang="en-US" altLang="zh-CN" dirty="0"/>
              <a:t>For example. produce bam file from paired </a:t>
            </a:r>
            <a:r>
              <a:rPr lang="en-US" altLang="zh-CN" dirty="0" err="1"/>
              <a:t>fastq</a:t>
            </a:r>
            <a:r>
              <a:rPr lang="en-US" altLang="zh-CN" dirty="0"/>
              <a:t> for all individuals of different populations. Template file was shown blow.</a:t>
            </a:r>
          </a:p>
          <a:p>
            <a:endParaRPr lang="zh-CN" altLang="en-US"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dirty="0"/>
              <a:t>Produce batch of scripts: scriptcontrol.py</a:t>
            </a:r>
            <a:endParaRPr lang="zh-CN" altLang="en-US" dirty="0"/>
          </a:p>
        </p:txBody>
      </p:sp>
    </p:spTree>
    <p:extLst>
      <p:ext uri="{BB962C8B-B14F-4D97-AF65-F5344CB8AC3E}">
        <p14:creationId xmlns:p14="http://schemas.microsoft.com/office/powerpoint/2010/main" val="1349072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Produce scripts for every individual paired </a:t>
            </a:r>
            <a:r>
              <a:rPr lang="en-US" altLang="zh-CN" sz="3200" dirty="0" err="1"/>
              <a:t>fq</a:t>
            </a:r>
            <a:r>
              <a:rPr lang="en-US" altLang="zh-CN" sz="3200" dirty="0"/>
              <a:t> files according the template </a:t>
            </a:r>
            <a:endParaRPr lang="zh-CN" altLang="en-US" sz="3200" dirty="0"/>
          </a:p>
        </p:txBody>
      </p:sp>
      <p:sp>
        <p:nvSpPr>
          <p:cNvPr id="3" name="内容占位符 2"/>
          <p:cNvSpPr>
            <a:spLocks noGrp="1"/>
          </p:cNvSpPr>
          <p:nvPr>
            <p:ph idx="1"/>
          </p:nvPr>
        </p:nvSpPr>
        <p:spPr>
          <a:xfrm>
            <a:off x="457200" y="1340768"/>
            <a:ext cx="8229600" cy="4785395"/>
          </a:xfrm>
        </p:spPr>
        <p:txBody>
          <a:bodyPr>
            <a:normAutofit/>
          </a:bodyPr>
          <a:lstStyle/>
          <a:p>
            <a:r>
              <a:rPr lang="en-US" altLang="zh-CN" sz="2400" dirty="0"/>
              <a:t>Python ~/life/src/pipelinecontrol/scriptcontrol.py  </a:t>
            </a:r>
            <a:r>
              <a:rPr lang="en-US" altLang="zh-CN" sz="2400" b="1" dirty="0"/>
              <a:t>-c</a:t>
            </a:r>
            <a:r>
              <a:rPr lang="en-US" altLang="zh-CN" sz="2400" dirty="0"/>
              <a:t> 1_getbam_D2L.sh </a:t>
            </a:r>
            <a:r>
              <a:rPr lang="en-US" altLang="zh-CN" sz="2400" b="1" dirty="0"/>
              <a:t>–d</a:t>
            </a:r>
            <a:r>
              <a:rPr lang="en-US" altLang="zh-CN" sz="2400" dirty="0"/>
              <a:t>  2 </a:t>
            </a:r>
            <a:r>
              <a:rPr lang="en-US" altLang="zh-CN" sz="2400" b="1" dirty="0"/>
              <a:t>–s</a:t>
            </a:r>
            <a:r>
              <a:rPr lang="en-US" altLang="zh-CN" sz="2400" dirty="0"/>
              <a:t> /</a:t>
            </a:r>
            <a:r>
              <a:rPr lang="en-US" altLang="zh-CN" sz="2400" dirty="0" err="1"/>
              <a:t>pathto</a:t>
            </a:r>
            <a:r>
              <a:rPr lang="en-US" altLang="zh-CN" sz="2400" dirty="0"/>
              <a:t>/step1_scripts </a:t>
            </a:r>
            <a:r>
              <a:rPr lang="en-US" altLang="zh-CN" sz="2400" b="1" dirty="0"/>
              <a:t>–m</a:t>
            </a:r>
            <a:r>
              <a:rPr lang="en-US" altLang="zh-CN" sz="2400" dirty="0"/>
              <a:t> 1 </a:t>
            </a:r>
            <a:r>
              <a:rPr lang="en-US" altLang="zh-CN" sz="2400" b="1" dirty="0"/>
              <a:t>-1</a:t>
            </a:r>
            <a:r>
              <a:rPr lang="en-US" altLang="zh-CN" sz="2400" dirty="0"/>
              <a:t> 2</a:t>
            </a:r>
          </a:p>
          <a:p>
            <a:r>
              <a:rPr lang="en-US" altLang="zh-CN" sz="2400" dirty="0"/>
              <a:t>It will produce runnable scripts that is used to call bam for every individual of all populations.</a:t>
            </a:r>
            <a:endParaRPr lang="zh-CN" altLang="en-US" sz="2400"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dirty="0"/>
              <a:t>Produce batch of scripts: scriptcontrol.py</a:t>
            </a:r>
            <a:endParaRPr lang="zh-CN" altLang="en-US" dirty="0"/>
          </a:p>
        </p:txBody>
      </p:sp>
      <p:cxnSp>
        <p:nvCxnSpPr>
          <p:cNvPr id="6" name="直接箭头连接符 5"/>
          <p:cNvCxnSpPr>
            <a:endCxn id="9" idx="0"/>
          </p:cNvCxnSpPr>
          <p:nvPr/>
        </p:nvCxnSpPr>
        <p:spPr>
          <a:xfrm flipH="1">
            <a:off x="2303748" y="2035778"/>
            <a:ext cx="1309228" cy="8171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7862766" y="1990158"/>
            <a:ext cx="144016"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23528" y="2852936"/>
            <a:ext cx="3960440" cy="646331"/>
          </a:xfrm>
          <a:prstGeom prst="rect">
            <a:avLst/>
          </a:prstGeom>
          <a:noFill/>
        </p:spPr>
        <p:txBody>
          <a:bodyPr wrap="square" rtlCol="0">
            <a:spAutoFit/>
          </a:bodyPr>
          <a:lstStyle/>
          <a:p>
            <a:r>
              <a:rPr lang="en-US" altLang="zh-CN" dirty="0"/>
              <a:t>Input data files were in the second level folder under the 0-the level folder.</a:t>
            </a:r>
            <a:endParaRPr lang="zh-CN" altLang="en-US" dirty="0"/>
          </a:p>
        </p:txBody>
      </p:sp>
      <p:sp>
        <p:nvSpPr>
          <p:cNvPr id="10" name="TextBox 9"/>
          <p:cNvSpPr txBox="1"/>
          <p:nvPr/>
        </p:nvSpPr>
        <p:spPr>
          <a:xfrm>
            <a:off x="4745732" y="2780928"/>
            <a:ext cx="3888432" cy="923330"/>
          </a:xfrm>
          <a:prstGeom prst="rect">
            <a:avLst/>
          </a:prstGeom>
          <a:noFill/>
        </p:spPr>
        <p:txBody>
          <a:bodyPr wrap="square" rtlCol="0">
            <a:spAutoFit/>
          </a:bodyPr>
          <a:lstStyle/>
          <a:p>
            <a:r>
              <a:rPr lang="en-US" altLang="zh-CN" dirty="0"/>
              <a:t>Produce scripts for every second level folder under the 0-th level folder. This parameter is usually same with -d</a:t>
            </a:r>
            <a:endParaRPr lang="zh-CN" altLang="en-US" dirty="0"/>
          </a:p>
        </p:txBody>
      </p:sp>
      <p:sp>
        <p:nvSpPr>
          <p:cNvPr id="11" name="TextBox 10"/>
          <p:cNvSpPr txBox="1"/>
          <p:nvPr/>
        </p:nvSpPr>
        <p:spPr>
          <a:xfrm>
            <a:off x="922512" y="3573016"/>
            <a:ext cx="3312368" cy="369332"/>
          </a:xfrm>
          <a:prstGeom prst="rect">
            <a:avLst/>
          </a:prstGeom>
          <a:noFill/>
        </p:spPr>
        <p:txBody>
          <a:bodyPr wrap="square" rtlCol="0">
            <a:spAutoFit/>
          </a:bodyPr>
          <a:lstStyle/>
          <a:p>
            <a:r>
              <a:rPr lang="en-US" altLang="zh-CN" dirty="0"/>
              <a:t>Template file describe as above</a:t>
            </a:r>
            <a:endParaRPr lang="zh-CN" altLang="en-US" dirty="0"/>
          </a:p>
        </p:txBody>
      </p:sp>
      <p:cxnSp>
        <p:nvCxnSpPr>
          <p:cNvPr id="13" name="直接箭头连接符 12"/>
          <p:cNvCxnSpPr>
            <a:endCxn id="11" idx="0"/>
          </p:cNvCxnSpPr>
          <p:nvPr/>
        </p:nvCxnSpPr>
        <p:spPr>
          <a:xfrm>
            <a:off x="2398676" y="2017194"/>
            <a:ext cx="180020" cy="15558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923928" y="4617710"/>
            <a:ext cx="1728192" cy="1152128"/>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scriptcontrol.py</a:t>
            </a:r>
            <a:endParaRPr lang="zh-CN" altLang="en-US" dirty="0">
              <a:solidFill>
                <a:schemeClr val="tx1"/>
              </a:solidFill>
            </a:endParaRPr>
          </a:p>
        </p:txBody>
      </p:sp>
      <p:sp>
        <p:nvSpPr>
          <p:cNvPr id="18" name="TextBox 17"/>
          <p:cNvSpPr txBox="1"/>
          <p:nvPr/>
        </p:nvSpPr>
        <p:spPr>
          <a:xfrm>
            <a:off x="0" y="3861048"/>
            <a:ext cx="3275856" cy="3416320"/>
          </a:xfrm>
          <a:prstGeom prst="rect">
            <a:avLst/>
          </a:prstGeom>
          <a:noFill/>
        </p:spPr>
        <p:txBody>
          <a:bodyPr wrap="square" rtlCol="0">
            <a:spAutoFit/>
          </a:bodyPr>
          <a:lstStyle/>
          <a:p>
            <a:r>
              <a:rPr lang="en-US" altLang="zh-CN" dirty="0"/>
              <a:t>-c Template file </a:t>
            </a:r>
          </a:p>
          <a:p>
            <a:r>
              <a:rPr lang="en-US" altLang="zh-CN" dirty="0"/>
              <a:t>-d depth of input data (</a:t>
            </a:r>
            <a:r>
              <a:rPr lang="en-US" altLang="zh-CN" dirty="0" err="1"/>
              <a:t>inputdatafilesrootpath</a:t>
            </a:r>
            <a:r>
              <a:rPr lang="en-US" altLang="zh-CN" dirty="0"/>
              <a:t>=0</a:t>
            </a:r>
            <a:r>
              <a:rPr lang="en-US" altLang="zh-CN" baseline="30000" dirty="0"/>
              <a:t>th</a:t>
            </a:r>
            <a:r>
              <a:rPr lang="en-US" altLang="zh-CN" dirty="0"/>
              <a:t> level)</a:t>
            </a:r>
          </a:p>
          <a:p>
            <a:r>
              <a:rPr lang="en-US" altLang="zh-CN" dirty="0"/>
              <a:t>-s folder to store scripts</a:t>
            </a:r>
          </a:p>
          <a:p>
            <a:r>
              <a:rPr lang="en-US" altLang="zh-CN" dirty="0"/>
              <a:t>-m mode1/2</a:t>
            </a:r>
          </a:p>
          <a:p>
            <a:r>
              <a:rPr lang="en-US" altLang="zh-CN" dirty="0"/>
              <a:t>-I depth of intercept folders</a:t>
            </a:r>
          </a:p>
          <a:p>
            <a:r>
              <a:rPr lang="en-US" altLang="zh-CN" dirty="0"/>
              <a:t>-l names of intercept folders in the assigned level</a:t>
            </a:r>
          </a:p>
          <a:p>
            <a:r>
              <a:rPr lang="en-US" altLang="zh-CN" dirty="0"/>
              <a:t>-t level of the folder name used to substitute </a:t>
            </a:r>
            <a:r>
              <a:rPr lang="en-US" altLang="zh-CN" dirty="0" err="1"/>
              <a:t>tha</a:t>
            </a:r>
            <a:r>
              <a:rPr lang="en-US" altLang="zh-CN" dirty="0"/>
              <a:t> ${tag}</a:t>
            </a:r>
          </a:p>
          <a:p>
            <a:r>
              <a:rPr lang="en-US" altLang="zh-CN" dirty="0"/>
              <a:t>-1</a:t>
            </a:r>
          </a:p>
          <a:p>
            <a:r>
              <a:rPr lang="en-US" altLang="zh-CN" dirty="0"/>
              <a:t>-2</a:t>
            </a:r>
          </a:p>
        </p:txBody>
      </p:sp>
      <p:sp>
        <p:nvSpPr>
          <p:cNvPr id="19" name="右大括号 18"/>
          <p:cNvSpPr/>
          <p:nvPr/>
        </p:nvSpPr>
        <p:spPr>
          <a:xfrm>
            <a:off x="3189487" y="4617710"/>
            <a:ext cx="432048" cy="115212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右箭头 19"/>
          <p:cNvSpPr/>
          <p:nvPr/>
        </p:nvSpPr>
        <p:spPr>
          <a:xfrm>
            <a:off x="5717554" y="5157192"/>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3362259" y="4833734"/>
            <a:ext cx="763332" cy="369332"/>
          </a:xfrm>
          <a:prstGeom prst="rect">
            <a:avLst/>
          </a:prstGeom>
          <a:noFill/>
        </p:spPr>
        <p:txBody>
          <a:bodyPr wrap="square" rtlCol="0">
            <a:spAutoFit/>
          </a:bodyPr>
          <a:lstStyle/>
          <a:p>
            <a:r>
              <a:rPr lang="en-US" altLang="zh-CN" dirty="0"/>
              <a:t>input</a:t>
            </a:r>
            <a:endParaRPr lang="zh-CN" altLang="en-US" dirty="0"/>
          </a:p>
        </p:txBody>
      </p:sp>
      <p:sp>
        <p:nvSpPr>
          <p:cNvPr id="22" name="TextBox 21"/>
          <p:cNvSpPr txBox="1"/>
          <p:nvPr/>
        </p:nvSpPr>
        <p:spPr>
          <a:xfrm>
            <a:off x="6876256" y="4870608"/>
            <a:ext cx="2232248" cy="1200329"/>
          </a:xfrm>
          <a:prstGeom prst="rect">
            <a:avLst/>
          </a:prstGeom>
          <a:noFill/>
        </p:spPr>
        <p:txBody>
          <a:bodyPr wrap="square" rtlCol="0">
            <a:spAutoFit/>
          </a:bodyPr>
          <a:lstStyle/>
          <a:p>
            <a:r>
              <a:rPr lang="en-US" altLang="zh-CN" dirty="0"/>
              <a:t>Produce batch of scripts</a:t>
            </a:r>
          </a:p>
          <a:p>
            <a:r>
              <a:rPr lang="en-US" altLang="zh-CN" dirty="0"/>
              <a:t>Create folders for all output data</a:t>
            </a:r>
          </a:p>
        </p:txBody>
      </p:sp>
      <p:sp>
        <p:nvSpPr>
          <p:cNvPr id="23" name="TextBox 22"/>
          <p:cNvSpPr txBox="1"/>
          <p:nvPr/>
        </p:nvSpPr>
        <p:spPr>
          <a:xfrm>
            <a:off x="5630003" y="4797152"/>
            <a:ext cx="869107" cy="369332"/>
          </a:xfrm>
          <a:prstGeom prst="rect">
            <a:avLst/>
          </a:prstGeom>
          <a:noFill/>
        </p:spPr>
        <p:txBody>
          <a:bodyPr wrap="square" rtlCol="0">
            <a:spAutoFit/>
          </a:bodyPr>
          <a:lstStyle/>
          <a:p>
            <a:r>
              <a:rPr lang="en-US" altLang="zh-CN" dirty="0"/>
              <a:t>output</a:t>
            </a:r>
            <a:endParaRPr lang="zh-CN" altLang="en-US" dirty="0"/>
          </a:p>
        </p:txBody>
      </p:sp>
      <p:sp>
        <p:nvSpPr>
          <p:cNvPr id="24" name="左大括号 23"/>
          <p:cNvSpPr/>
          <p:nvPr/>
        </p:nvSpPr>
        <p:spPr>
          <a:xfrm>
            <a:off x="6499111" y="4293096"/>
            <a:ext cx="377145" cy="1800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508241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mode 1 results (many input to </a:t>
            </a:r>
            <a:r>
              <a:rPr lang="en-US" altLang="zh-CN" sz="3200"/>
              <a:t>many output)</a:t>
            </a:r>
            <a:endParaRPr lang="zh-CN" altLang="en-US" sz="3200"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309" y="3501008"/>
            <a:ext cx="8229600" cy="2014678"/>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628800"/>
            <a:ext cx="6800850" cy="1104900"/>
          </a:xfrm>
          <a:prstGeom prst="rect">
            <a:avLst/>
          </a:prstGeom>
        </p:spPr>
      </p:pic>
      <p:cxnSp>
        <p:nvCxnSpPr>
          <p:cNvPr id="14" name="肘形连接符 13"/>
          <p:cNvCxnSpPr/>
          <p:nvPr/>
        </p:nvCxnSpPr>
        <p:spPr>
          <a:xfrm rot="16200000" flipH="1">
            <a:off x="6540289" y="2356904"/>
            <a:ext cx="1584176" cy="560015"/>
          </a:xfrm>
          <a:prstGeom prst="bentConnector3">
            <a:avLst>
              <a:gd name="adj1" fmla="val -506"/>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39552" y="6021288"/>
            <a:ext cx="4392488" cy="646331"/>
          </a:xfrm>
          <a:prstGeom prst="rect">
            <a:avLst/>
          </a:prstGeom>
          <a:noFill/>
        </p:spPr>
        <p:txBody>
          <a:bodyPr wrap="square" rtlCol="0">
            <a:spAutoFit/>
          </a:bodyPr>
          <a:lstStyle/>
          <a:p>
            <a:r>
              <a:rPr lang="en-US" altLang="zh-CN" dirty="0"/>
              <a:t>All those (output, scripts) folders and scripts were produce </a:t>
            </a:r>
            <a:r>
              <a:rPr lang="en-US" altLang="zh-CN" dirty="0" err="1"/>
              <a:t>automaticly</a:t>
            </a:r>
            <a:endParaRPr lang="zh-CN" altLang="en-US" dirty="0"/>
          </a:p>
        </p:txBody>
      </p:sp>
      <p:sp>
        <p:nvSpPr>
          <p:cNvPr id="7" name="TextBox 6"/>
          <p:cNvSpPr txBox="1"/>
          <p:nvPr/>
        </p:nvSpPr>
        <p:spPr>
          <a:xfrm>
            <a:off x="0" y="0"/>
            <a:ext cx="9139472" cy="369332"/>
          </a:xfrm>
          <a:prstGeom prst="rect">
            <a:avLst/>
          </a:prstGeom>
          <a:noFill/>
        </p:spPr>
        <p:txBody>
          <a:bodyPr wrap="square" rtlCol="0">
            <a:spAutoFit/>
          </a:bodyPr>
          <a:lstStyle/>
          <a:p>
            <a:r>
              <a:rPr lang="en-US" altLang="zh-CN" dirty="0"/>
              <a:t>Produce batch of scripts: scriptcontrol.py</a:t>
            </a:r>
            <a:endParaRPr lang="zh-CN" altLang="en-US" dirty="0"/>
          </a:p>
        </p:txBody>
      </p:sp>
    </p:spTree>
    <p:extLst>
      <p:ext uri="{BB962C8B-B14F-4D97-AF65-F5344CB8AC3E}">
        <p14:creationId xmlns:p14="http://schemas.microsoft.com/office/powerpoint/2010/main" val="3105647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Mode 2: many input to one output</a:t>
            </a:r>
            <a:endParaRPr lang="zh-CN" altLang="en-US" sz="3200" dirty="0"/>
          </a:p>
        </p:txBody>
      </p:sp>
      <p:sp>
        <p:nvSpPr>
          <p:cNvPr id="3" name="内容占位符 2"/>
          <p:cNvSpPr>
            <a:spLocks noGrp="1"/>
          </p:cNvSpPr>
          <p:nvPr>
            <p:ph idx="1"/>
          </p:nvPr>
        </p:nvSpPr>
        <p:spPr/>
        <p:txBody>
          <a:bodyPr/>
          <a:lstStyle/>
          <a:p>
            <a:endParaRPr lang="zh-CN" altLang="en-US"/>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dirty="0"/>
              <a:t>Produce batch of scripts: scriptcontrol.py</a:t>
            </a:r>
            <a:endParaRPr lang="zh-CN" altLang="en-US" dirty="0"/>
          </a:p>
        </p:txBody>
      </p:sp>
    </p:spTree>
    <p:extLst>
      <p:ext uri="{BB962C8B-B14F-4D97-AF65-F5344CB8AC3E}">
        <p14:creationId xmlns:p14="http://schemas.microsoft.com/office/powerpoint/2010/main" val="3796959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Task and record management module</a:t>
            </a:r>
            <a:endParaRPr lang="zh-CN" altLang="en-US" sz="4000" b="1" dirty="0"/>
          </a:p>
        </p:txBody>
      </p:sp>
      <p:sp>
        <p:nvSpPr>
          <p:cNvPr id="3" name="内容占位符 2"/>
          <p:cNvSpPr>
            <a:spLocks noGrp="1"/>
          </p:cNvSpPr>
          <p:nvPr>
            <p:ph idx="1"/>
          </p:nvPr>
        </p:nvSpPr>
        <p:spPr/>
        <p:txBody>
          <a:bodyPr/>
          <a:lstStyle/>
          <a:p>
            <a:r>
              <a:rPr lang="en-US" altLang="zh-CN" dirty="0"/>
              <a:t>Throw several scripts into running at once </a:t>
            </a:r>
            <a:r>
              <a:rPr lang="en-US" altLang="zh-CN" dirty="0" err="1"/>
              <a:t>untill</a:t>
            </a:r>
            <a:r>
              <a:rPr lang="en-US" altLang="zh-CN" dirty="0"/>
              <a:t> run all scripts.</a:t>
            </a:r>
          </a:p>
          <a:p>
            <a:r>
              <a:rPr lang="en-US" altLang="zh-CN" dirty="0"/>
              <a:t>Monitor the state of all scripts run in webpage or by </a:t>
            </a:r>
            <a:r>
              <a:rPr lang="en-US" altLang="zh-CN" dirty="0" err="1"/>
              <a:t>mysql</a:t>
            </a:r>
            <a:r>
              <a:rPr lang="en-US" altLang="zh-CN" dirty="0"/>
              <a:t> visual schema</a:t>
            </a:r>
          </a:p>
          <a:p>
            <a:r>
              <a:rPr lang="en-US" altLang="zh-CN" dirty="0"/>
              <a:t>Record parameters , </a:t>
            </a:r>
            <a:r>
              <a:rPr lang="en-US" altLang="zh-CN" dirty="0" err="1"/>
              <a:t>logfile</a:t>
            </a:r>
            <a:r>
              <a:rPr lang="en-US" altLang="zh-CN" dirty="0"/>
              <a:t>, input data and output data.</a:t>
            </a:r>
          </a:p>
          <a:p>
            <a:endParaRPr lang="en-US" altLang="zh-CN"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b="1" dirty="0">
                <a:solidFill>
                  <a:srgbClr val="FF0000"/>
                </a:solidFill>
              </a:rPr>
              <a:t>Module 3</a:t>
            </a:r>
            <a:endParaRPr lang="zh-CN" altLang="en-US" dirty="0">
              <a:solidFill>
                <a:srgbClr val="FF0000"/>
              </a:solidFill>
            </a:endParaRPr>
          </a:p>
        </p:txBody>
      </p:sp>
    </p:spTree>
    <p:extLst>
      <p:ext uri="{BB962C8B-B14F-4D97-AF65-F5344CB8AC3E}">
        <p14:creationId xmlns:p14="http://schemas.microsoft.com/office/powerpoint/2010/main" val="1881083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4174471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 analysis module</a:t>
            </a:r>
            <a:endParaRPr lang="zh-CN" altLang="en-US" sz="4000" b="1" dirty="0"/>
          </a:p>
        </p:txBody>
      </p:sp>
      <p:sp>
        <p:nvSpPr>
          <p:cNvPr id="3" name="内容占位符 2"/>
          <p:cNvSpPr>
            <a:spLocks noGrp="1"/>
          </p:cNvSpPr>
          <p:nvPr>
            <p:ph idx="1"/>
          </p:nvPr>
        </p:nvSpPr>
        <p:spPr/>
        <p:txBody>
          <a:bodyPr/>
          <a:lstStyle/>
          <a:p>
            <a:endParaRPr lang="zh-CN" altLang="en-US"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b="1" dirty="0">
                <a:solidFill>
                  <a:srgbClr val="FF0000"/>
                </a:solidFill>
              </a:rPr>
              <a:t>Module 4</a:t>
            </a:r>
            <a:endParaRPr lang="zh-CN" altLang="en-US" dirty="0">
              <a:solidFill>
                <a:srgbClr val="FF0000"/>
              </a:solidFill>
            </a:endParaRPr>
          </a:p>
        </p:txBody>
      </p:sp>
    </p:spTree>
    <p:extLst>
      <p:ext uri="{BB962C8B-B14F-4D97-AF65-F5344CB8AC3E}">
        <p14:creationId xmlns:p14="http://schemas.microsoft.com/office/powerpoint/2010/main" val="837385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overview</a:t>
            </a:r>
            <a:endParaRPr lang="zh-CN" altLang="en-US" sz="3200"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sp>
        <p:nvSpPr>
          <p:cNvPr id="5" name="矩形 4"/>
          <p:cNvSpPr/>
          <p:nvPr/>
        </p:nvSpPr>
        <p:spPr>
          <a:xfrm>
            <a:off x="4074541" y="2323332"/>
            <a:ext cx="1728192" cy="1152128"/>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Detectsignalacrossgenome_master.py</a:t>
            </a:r>
            <a:endParaRPr lang="zh-CN" altLang="en-US" dirty="0">
              <a:solidFill>
                <a:schemeClr val="tx1"/>
              </a:solidFill>
            </a:endParaRPr>
          </a:p>
        </p:txBody>
      </p:sp>
      <p:sp>
        <p:nvSpPr>
          <p:cNvPr id="6" name="TextBox 5"/>
          <p:cNvSpPr txBox="1"/>
          <p:nvPr/>
        </p:nvSpPr>
        <p:spPr>
          <a:xfrm>
            <a:off x="-16046" y="332656"/>
            <a:ext cx="3363910" cy="6740307"/>
          </a:xfrm>
          <a:prstGeom prst="rect">
            <a:avLst/>
          </a:prstGeom>
          <a:noFill/>
        </p:spPr>
        <p:txBody>
          <a:bodyPr wrap="square" rtlCol="0">
            <a:spAutoFit/>
          </a:bodyPr>
          <a:lstStyle/>
          <a:p>
            <a:r>
              <a:rPr lang="en-US" altLang="zh-CN" dirty="0"/>
              <a:t>-o path to </a:t>
            </a:r>
            <a:r>
              <a:rPr lang="en-US" altLang="zh-CN" dirty="0" err="1"/>
              <a:t>ouput</a:t>
            </a:r>
            <a:r>
              <a:rPr lang="en-US" altLang="zh-CN" dirty="0"/>
              <a:t> prefix name</a:t>
            </a:r>
          </a:p>
          <a:p>
            <a:r>
              <a:rPr lang="en-US" altLang="zh-CN" dirty="0"/>
              <a:t>-T </a:t>
            </a:r>
            <a:r>
              <a:rPr lang="en-US" altLang="zh-CN" dirty="0" err="1"/>
              <a:t>targetpopvcf</a:t>
            </a:r>
            <a:r>
              <a:rPr lang="en-US" altLang="zh-CN" dirty="0"/>
              <a:t> </a:t>
            </a:r>
            <a:r>
              <a:rPr lang="en-US" altLang="zh-CN" dirty="0" err="1"/>
              <a:t>depthconfig</a:t>
            </a:r>
            <a:r>
              <a:rPr lang="en-US" altLang="zh-CN" dirty="0"/>
              <a:t> (multiple –R when multiple populations were used, omit when calculate </a:t>
            </a:r>
            <a:r>
              <a:rPr lang="en-US" altLang="zh-CN" dirty="0" err="1"/>
              <a:t>Hp</a:t>
            </a:r>
            <a:r>
              <a:rPr lang="en-US" altLang="zh-CN" dirty="0"/>
              <a:t>)</a:t>
            </a:r>
          </a:p>
          <a:p>
            <a:r>
              <a:rPr lang="en-US" altLang="zh-CN" dirty="0"/>
              <a:t>-R </a:t>
            </a:r>
            <a:r>
              <a:rPr lang="en-US" altLang="zh-CN" dirty="0" err="1"/>
              <a:t>refpopvcf</a:t>
            </a:r>
            <a:r>
              <a:rPr lang="en-US" altLang="zh-CN" dirty="0"/>
              <a:t> </a:t>
            </a:r>
            <a:r>
              <a:rPr lang="en-US" altLang="zh-CN" dirty="0" err="1"/>
              <a:t>depthconfig</a:t>
            </a:r>
            <a:r>
              <a:rPr lang="en-US" altLang="zh-CN" dirty="0"/>
              <a:t> (multiple)</a:t>
            </a:r>
          </a:p>
          <a:p>
            <a:r>
              <a:rPr lang="en-US" altLang="zh-CN" dirty="0"/>
              <a:t>-t </a:t>
            </a:r>
            <a:r>
              <a:rPr lang="en-US" altLang="zh-CN" dirty="0" err="1"/>
              <a:t>toplevel_snp_table</a:t>
            </a:r>
            <a:r>
              <a:rPr lang="en-US" altLang="zh-CN" dirty="0"/>
              <a:t> (to know ancestral allele and context bases)</a:t>
            </a:r>
          </a:p>
          <a:p>
            <a:r>
              <a:rPr lang="en-US" altLang="zh-CN" dirty="0"/>
              <a:t>-c/-b multiple chromosome list or bed like file ( -c or –b only one is needed)</a:t>
            </a:r>
          </a:p>
          <a:p>
            <a:r>
              <a:rPr lang="en-US" altLang="zh-CN" dirty="0"/>
              <a:t>-p type of signal (early, </a:t>
            </a:r>
            <a:r>
              <a:rPr lang="en-US" altLang="zh-CN" dirty="0" err="1"/>
              <a:t>hp</a:t>
            </a:r>
            <a:r>
              <a:rPr lang="en-US" altLang="zh-CN" dirty="0"/>
              <a:t>, </a:t>
            </a:r>
            <a:r>
              <a:rPr lang="en-US" altLang="zh-CN" dirty="0" err="1"/>
              <a:t>Fst</a:t>
            </a:r>
            <a:r>
              <a:rPr lang="en-US" altLang="zh-CN" dirty="0"/>
              <a:t>)</a:t>
            </a:r>
          </a:p>
          <a:p>
            <a:r>
              <a:rPr lang="en-US" altLang="zh-CN" dirty="0"/>
              <a:t>-C </a:t>
            </a:r>
            <a:r>
              <a:rPr lang="en-US" altLang="zh-CN" dirty="0" err="1"/>
              <a:t>freq_correlation</a:t>
            </a:r>
            <a:r>
              <a:rPr lang="en-US" altLang="zh-CN" dirty="0"/>
              <a:t> file ,for “early” only</a:t>
            </a:r>
          </a:p>
          <a:p>
            <a:r>
              <a:rPr lang="en-US" altLang="zh-CN" dirty="0"/>
              <a:t>-n number of individuals , for “early” only. Decide to </a:t>
            </a:r>
            <a:r>
              <a:rPr lang="en-US" altLang="zh-CN" dirty="0" err="1"/>
              <a:t>divid</a:t>
            </a:r>
            <a:r>
              <a:rPr lang="en-US" altLang="zh-CN" dirty="0"/>
              <a:t> frequency in to how many bins</a:t>
            </a:r>
          </a:p>
          <a:p>
            <a:r>
              <a:rPr lang="en-US" altLang="zh-CN" dirty="0"/>
              <a:t>-1 frequency correlation calculate slaver </a:t>
            </a:r>
            <a:r>
              <a:rPr lang="en-US" altLang="zh-CN" dirty="0" err="1"/>
              <a:t>programm</a:t>
            </a:r>
            <a:r>
              <a:rPr lang="en-US" altLang="zh-CN" dirty="0"/>
              <a:t> name</a:t>
            </a:r>
          </a:p>
          <a:p>
            <a:r>
              <a:rPr lang="en-US" altLang="zh-CN" dirty="0"/>
              <a:t>-2 slaver that slide window to calculate signal</a:t>
            </a:r>
          </a:p>
          <a:p>
            <a:r>
              <a:rPr lang="en-US" altLang="zh-CN" dirty="0"/>
              <a:t>-w window size</a:t>
            </a:r>
          </a:p>
          <a:p>
            <a:r>
              <a:rPr lang="en-US" altLang="zh-CN" dirty="0"/>
              <a:t>-s slide steps</a:t>
            </a:r>
          </a:p>
        </p:txBody>
      </p:sp>
      <p:sp>
        <p:nvSpPr>
          <p:cNvPr id="7" name="右大括号 6"/>
          <p:cNvSpPr/>
          <p:nvPr/>
        </p:nvSpPr>
        <p:spPr>
          <a:xfrm>
            <a:off x="3059832" y="1628801"/>
            <a:ext cx="432048" cy="3612018"/>
          </a:xfrm>
          <a:prstGeom prst="rightBrace">
            <a:avLst>
              <a:gd name="adj1" fmla="val 8333"/>
              <a:gd name="adj2" fmla="val 366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箭头 7"/>
          <p:cNvSpPr/>
          <p:nvPr/>
        </p:nvSpPr>
        <p:spPr>
          <a:xfrm>
            <a:off x="5809999" y="2899396"/>
            <a:ext cx="638092" cy="108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3534989" y="2899396"/>
            <a:ext cx="539552" cy="108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3275856" y="2539356"/>
            <a:ext cx="798685" cy="369332"/>
          </a:xfrm>
          <a:prstGeom prst="rect">
            <a:avLst/>
          </a:prstGeom>
          <a:noFill/>
        </p:spPr>
        <p:txBody>
          <a:bodyPr wrap="square" rtlCol="0">
            <a:spAutoFit/>
          </a:bodyPr>
          <a:lstStyle/>
          <a:p>
            <a:r>
              <a:rPr lang="en-US" altLang="zh-CN" dirty="0"/>
              <a:t>input</a:t>
            </a:r>
            <a:endParaRPr lang="zh-CN" altLang="en-US" dirty="0"/>
          </a:p>
        </p:txBody>
      </p:sp>
      <p:sp>
        <p:nvSpPr>
          <p:cNvPr id="11" name="TextBox 10"/>
          <p:cNvSpPr txBox="1"/>
          <p:nvPr/>
        </p:nvSpPr>
        <p:spPr>
          <a:xfrm>
            <a:off x="6907224" y="2576230"/>
            <a:ext cx="2232248" cy="646331"/>
          </a:xfrm>
          <a:prstGeom prst="rect">
            <a:avLst/>
          </a:prstGeom>
          <a:noFill/>
        </p:spPr>
        <p:txBody>
          <a:bodyPr wrap="square" rtlCol="0">
            <a:spAutoFit/>
          </a:bodyPr>
          <a:lstStyle/>
          <a:p>
            <a:r>
              <a:rPr lang="en-US" altLang="zh-CN" dirty="0" err="1"/>
              <a:t>winfile</a:t>
            </a:r>
            <a:endParaRPr lang="en-US" altLang="zh-CN" dirty="0"/>
          </a:p>
          <a:p>
            <a:r>
              <a:rPr lang="en-US" altLang="zh-CN" dirty="0"/>
              <a:t>(</a:t>
            </a:r>
            <a:r>
              <a:rPr lang="en-US" altLang="zh-CN" dirty="0" err="1"/>
              <a:t>freq_correlation</a:t>
            </a:r>
            <a:r>
              <a:rPr lang="en-US" altLang="zh-CN" dirty="0"/>
              <a:t>  file)</a:t>
            </a:r>
          </a:p>
        </p:txBody>
      </p:sp>
      <p:sp>
        <p:nvSpPr>
          <p:cNvPr id="12" name="TextBox 11"/>
          <p:cNvSpPr txBox="1"/>
          <p:nvPr/>
        </p:nvSpPr>
        <p:spPr>
          <a:xfrm>
            <a:off x="5802733" y="2564904"/>
            <a:ext cx="915918" cy="369332"/>
          </a:xfrm>
          <a:prstGeom prst="rect">
            <a:avLst/>
          </a:prstGeom>
          <a:noFill/>
        </p:spPr>
        <p:txBody>
          <a:bodyPr wrap="square" rtlCol="0">
            <a:spAutoFit/>
          </a:bodyPr>
          <a:lstStyle/>
          <a:p>
            <a:r>
              <a:rPr lang="en-US" altLang="zh-CN" dirty="0"/>
              <a:t>output</a:t>
            </a:r>
            <a:endParaRPr lang="zh-CN" altLang="en-US" dirty="0"/>
          </a:p>
        </p:txBody>
      </p:sp>
      <p:sp>
        <p:nvSpPr>
          <p:cNvPr id="13" name="左大括号 12"/>
          <p:cNvSpPr/>
          <p:nvPr/>
        </p:nvSpPr>
        <p:spPr>
          <a:xfrm>
            <a:off x="6530079" y="2060848"/>
            <a:ext cx="377145" cy="1800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 name="直接箭头连接符 13"/>
          <p:cNvCxnSpPr/>
          <p:nvPr/>
        </p:nvCxnSpPr>
        <p:spPr>
          <a:xfrm flipH="1">
            <a:off x="3975991" y="3475460"/>
            <a:ext cx="425450" cy="13960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4788024" y="3575343"/>
            <a:ext cx="0" cy="12961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249144" y="3575343"/>
            <a:ext cx="373903" cy="12961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88716" y="4029457"/>
            <a:ext cx="1247379" cy="369332"/>
          </a:xfrm>
          <a:prstGeom prst="rect">
            <a:avLst/>
          </a:prstGeom>
          <a:noFill/>
          <a:ln>
            <a:noFill/>
          </a:ln>
        </p:spPr>
        <p:txBody>
          <a:bodyPr wrap="square" rtlCol="0">
            <a:spAutoFit/>
          </a:bodyPr>
          <a:lstStyle/>
          <a:p>
            <a:r>
              <a:rPr lang="en-US" altLang="zh-CN" dirty="0">
                <a:solidFill>
                  <a:schemeClr val="tx2">
                    <a:lumMod val="60000"/>
                    <a:lumOff val="40000"/>
                  </a:schemeClr>
                </a:solidFill>
              </a:rPr>
              <a:t>. . .       . . .</a:t>
            </a:r>
            <a:endParaRPr lang="zh-CN" altLang="en-US" dirty="0">
              <a:solidFill>
                <a:schemeClr val="tx2">
                  <a:lumMod val="60000"/>
                  <a:lumOff val="40000"/>
                </a:schemeClr>
              </a:solidFill>
            </a:endParaRPr>
          </a:p>
        </p:txBody>
      </p:sp>
      <p:sp>
        <p:nvSpPr>
          <p:cNvPr id="18" name="TextBox 17"/>
          <p:cNvSpPr txBox="1"/>
          <p:nvPr/>
        </p:nvSpPr>
        <p:spPr>
          <a:xfrm>
            <a:off x="3604795" y="4871487"/>
            <a:ext cx="651460" cy="369332"/>
          </a:xfrm>
          <a:prstGeom prst="rect">
            <a:avLst/>
          </a:prstGeom>
          <a:noFill/>
        </p:spPr>
        <p:txBody>
          <a:bodyPr wrap="none" rtlCol="0">
            <a:spAutoFit/>
          </a:bodyPr>
          <a:lstStyle/>
          <a:p>
            <a:r>
              <a:rPr lang="en-US" altLang="zh-CN" dirty="0"/>
              <a:t>slave</a:t>
            </a:r>
            <a:endParaRPr lang="zh-CN" altLang="en-US" dirty="0"/>
          </a:p>
        </p:txBody>
      </p:sp>
      <p:sp>
        <p:nvSpPr>
          <p:cNvPr id="19" name="TextBox 18"/>
          <p:cNvSpPr txBox="1"/>
          <p:nvPr/>
        </p:nvSpPr>
        <p:spPr>
          <a:xfrm>
            <a:off x="4462294" y="4871487"/>
            <a:ext cx="651460" cy="369332"/>
          </a:xfrm>
          <a:prstGeom prst="rect">
            <a:avLst/>
          </a:prstGeom>
          <a:noFill/>
        </p:spPr>
        <p:txBody>
          <a:bodyPr wrap="none" rtlCol="0">
            <a:spAutoFit/>
          </a:bodyPr>
          <a:lstStyle/>
          <a:p>
            <a:r>
              <a:rPr lang="en-US" altLang="zh-CN" dirty="0"/>
              <a:t>slave</a:t>
            </a:r>
            <a:endParaRPr lang="zh-CN" altLang="en-US" dirty="0"/>
          </a:p>
        </p:txBody>
      </p:sp>
      <p:sp>
        <p:nvSpPr>
          <p:cNvPr id="20" name="TextBox 19"/>
          <p:cNvSpPr txBox="1"/>
          <p:nvPr/>
        </p:nvSpPr>
        <p:spPr>
          <a:xfrm>
            <a:off x="5297317" y="4871487"/>
            <a:ext cx="651460" cy="369332"/>
          </a:xfrm>
          <a:prstGeom prst="rect">
            <a:avLst/>
          </a:prstGeom>
          <a:noFill/>
        </p:spPr>
        <p:txBody>
          <a:bodyPr wrap="none" rtlCol="0">
            <a:spAutoFit/>
          </a:bodyPr>
          <a:lstStyle/>
          <a:p>
            <a:r>
              <a:rPr lang="en-US" altLang="zh-CN" dirty="0"/>
              <a:t>slave</a:t>
            </a:r>
            <a:endParaRPr lang="zh-CN" altLang="en-US" dirty="0"/>
          </a:p>
        </p:txBody>
      </p:sp>
      <p:sp>
        <p:nvSpPr>
          <p:cNvPr id="21" name="左弧形箭头 20"/>
          <p:cNvSpPr/>
          <p:nvPr/>
        </p:nvSpPr>
        <p:spPr>
          <a:xfrm rot="11639433">
            <a:off x="5260879" y="3203804"/>
            <a:ext cx="860480" cy="277638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 name="直接箭头连接符 21"/>
          <p:cNvCxnSpPr/>
          <p:nvPr/>
        </p:nvCxnSpPr>
        <p:spPr>
          <a:xfrm>
            <a:off x="3930525" y="5240819"/>
            <a:ext cx="641475" cy="3836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4788024" y="5240819"/>
            <a:ext cx="0" cy="3836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4938637" y="5240819"/>
            <a:ext cx="621939" cy="3836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230955" y="5733256"/>
            <a:ext cx="3861325" cy="1200329"/>
          </a:xfrm>
          <a:prstGeom prst="rect">
            <a:avLst/>
          </a:prstGeom>
          <a:noFill/>
        </p:spPr>
        <p:txBody>
          <a:bodyPr wrap="square" rtlCol="0">
            <a:spAutoFit/>
          </a:bodyPr>
          <a:lstStyle/>
          <a:p>
            <a:r>
              <a:rPr lang="en-US" altLang="zh-CN" dirty="0"/>
              <a:t>Whole genome was divided into multiple chromosomes or scaffolds (-c). And each scaffold was calculated by Slave </a:t>
            </a:r>
            <a:r>
              <a:rPr lang="en-US" altLang="zh-CN" dirty="0" err="1"/>
              <a:t>programm</a:t>
            </a:r>
            <a:r>
              <a:rPr lang="en-US" altLang="zh-CN" dirty="0"/>
              <a:t> simultaneously. </a:t>
            </a:r>
            <a:endParaRPr lang="zh-CN" altLang="en-US" dirty="0"/>
          </a:p>
        </p:txBody>
      </p:sp>
      <p:cxnSp>
        <p:nvCxnSpPr>
          <p:cNvPr id="28" name="直接箭头连接符 27"/>
          <p:cNvCxnSpPr>
            <a:stCxn id="30" idx="1"/>
          </p:cNvCxnSpPr>
          <p:nvPr/>
        </p:nvCxnSpPr>
        <p:spPr>
          <a:xfrm flipH="1" flipV="1">
            <a:off x="3014941" y="3861048"/>
            <a:ext cx="3703710" cy="774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718651" y="4173473"/>
            <a:ext cx="2420821" cy="923330"/>
          </a:xfrm>
          <a:prstGeom prst="rect">
            <a:avLst/>
          </a:prstGeom>
          <a:noFill/>
        </p:spPr>
        <p:txBody>
          <a:bodyPr wrap="square" rtlCol="0">
            <a:spAutoFit/>
          </a:bodyPr>
          <a:lstStyle/>
          <a:p>
            <a:r>
              <a:rPr lang="en-US" altLang="zh-CN" dirty="0"/>
              <a:t>Calculate different population parameters in each window</a:t>
            </a:r>
            <a:endParaRPr lang="zh-CN" altLang="en-US" dirty="0"/>
          </a:p>
        </p:txBody>
      </p:sp>
    </p:spTree>
    <p:extLst>
      <p:ext uri="{BB962C8B-B14F-4D97-AF65-F5344CB8AC3E}">
        <p14:creationId xmlns:p14="http://schemas.microsoft.com/office/powerpoint/2010/main" val="3455380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usage</a:t>
            </a:r>
            <a:endParaRPr lang="zh-CN" altLang="en-US" sz="4000" dirty="0"/>
          </a:p>
        </p:txBody>
      </p:sp>
      <p:sp>
        <p:nvSpPr>
          <p:cNvPr id="3" name="内容占位符 2"/>
          <p:cNvSpPr>
            <a:spLocks noGrp="1"/>
          </p:cNvSpPr>
          <p:nvPr>
            <p:ph idx="1"/>
          </p:nvPr>
        </p:nvSpPr>
        <p:spPr/>
        <p:txBody>
          <a:bodyPr>
            <a:noAutofit/>
          </a:bodyPr>
          <a:lstStyle/>
          <a:p>
            <a:r>
              <a:rPr lang="en-US" altLang="zh-CN" sz="1800" dirty="0"/>
              <a:t>Python-3.3.3/python life/src/NGS/Analysis/Detectsignalacrossgenome_master.py </a:t>
            </a:r>
            <a:r>
              <a:rPr lang="en-US" altLang="zh-CN" sz="1800" b="1" dirty="0"/>
              <a:t>-o </a:t>
            </a:r>
            <a:r>
              <a:rPr lang="en-US" altLang="zh-CN" sz="1800" dirty="0"/>
              <a:t>/home/</a:t>
            </a:r>
            <a:r>
              <a:rPr lang="en-US" altLang="zh-CN" sz="1800" dirty="0" err="1"/>
              <a:t>bioinfo</a:t>
            </a:r>
            <a:r>
              <a:rPr lang="en-US" altLang="zh-CN" sz="1800" dirty="0"/>
              <a:t>/</a:t>
            </a:r>
            <a:r>
              <a:rPr lang="en-US" altLang="zh-CN" sz="1800" dirty="0" err="1"/>
              <a:t>liurui</a:t>
            </a:r>
            <a:r>
              <a:rPr lang="en-US" altLang="zh-CN" sz="1800" dirty="0"/>
              <a:t>/data/</a:t>
            </a:r>
            <a:r>
              <a:rPr lang="en-US" altLang="zh-CN" sz="1800" dirty="0" err="1"/>
              <a:t>detectselection</a:t>
            </a:r>
            <a:r>
              <a:rPr lang="en-US" altLang="zh-CN" sz="1800" dirty="0"/>
              <a:t>/</a:t>
            </a:r>
            <a:r>
              <a:rPr lang="en-US" altLang="zh-CN" sz="1800" dirty="0" err="1"/>
              <a:t>uniqmap</a:t>
            </a:r>
            <a:r>
              <a:rPr lang="en-US" altLang="zh-CN" sz="1800" dirty="0"/>
              <a:t>/</a:t>
            </a:r>
            <a:r>
              <a:rPr lang="en-US" altLang="zh-CN" sz="1800" dirty="0" err="1"/>
              <a:t>earlystageselectivesweep</a:t>
            </a:r>
            <a:r>
              <a:rPr lang="en-US" altLang="zh-CN" sz="1800" dirty="0"/>
              <a:t>/</a:t>
            </a:r>
            <a:r>
              <a:rPr lang="en-US" altLang="zh-CN" sz="1800" dirty="0" err="1"/>
              <a:t>finaleditionfromproducetoslidwin</a:t>
            </a:r>
            <a:r>
              <a:rPr lang="en-US" altLang="zh-CN" sz="1800" dirty="0"/>
              <a:t>  </a:t>
            </a:r>
            <a:r>
              <a:rPr lang="en-US" altLang="zh-CN" sz="1800" b="1" dirty="0"/>
              <a:t>-n</a:t>
            </a:r>
            <a:r>
              <a:rPr lang="en-US" altLang="zh-CN" sz="1800" dirty="0"/>
              <a:t> 14  -t mspsgjlksy10pop_toplevel_pekingduckref </a:t>
            </a:r>
            <a:r>
              <a:rPr lang="en-US" altLang="zh-CN" sz="1800" b="1" dirty="0"/>
              <a:t>-T </a:t>
            </a:r>
            <a:r>
              <a:rPr lang="en-US" altLang="zh-CN" sz="1800" dirty="0" err="1"/>
              <a:t>mallard.VCFBAMconfig</a:t>
            </a:r>
            <a:r>
              <a:rPr lang="en-US" altLang="zh-CN" sz="1800" dirty="0"/>
              <a:t> </a:t>
            </a:r>
            <a:r>
              <a:rPr lang="en-US" altLang="zh-CN" sz="1800" b="1" dirty="0"/>
              <a:t>-T </a:t>
            </a:r>
            <a:r>
              <a:rPr lang="en-US" altLang="zh-CN" sz="1800" dirty="0" err="1"/>
              <a:t>spotbilled.VCFBAMconfig</a:t>
            </a:r>
            <a:r>
              <a:rPr lang="en-US" altLang="zh-CN" sz="1800" dirty="0"/>
              <a:t> </a:t>
            </a:r>
            <a:r>
              <a:rPr lang="en-US" altLang="zh-CN" sz="1800" b="1" dirty="0"/>
              <a:t>-R</a:t>
            </a:r>
            <a:r>
              <a:rPr lang="en-US" altLang="zh-CN" sz="1800" dirty="0"/>
              <a:t> </a:t>
            </a:r>
            <a:r>
              <a:rPr lang="en-US" altLang="zh-CN" sz="1800" dirty="0" err="1"/>
              <a:t>gaoyou.VCFBAMconfig</a:t>
            </a:r>
            <a:r>
              <a:rPr lang="en-US" altLang="zh-CN" sz="1800" dirty="0"/>
              <a:t> </a:t>
            </a:r>
            <a:r>
              <a:rPr lang="en-US" altLang="zh-CN" sz="1800" b="1" dirty="0"/>
              <a:t>-R</a:t>
            </a:r>
            <a:r>
              <a:rPr lang="en-US" altLang="zh-CN" sz="1800" dirty="0"/>
              <a:t> </a:t>
            </a:r>
            <a:r>
              <a:rPr lang="en-US" altLang="zh-CN" sz="1800" dirty="0" err="1"/>
              <a:t>lianchengbai.VCFBAMconfig</a:t>
            </a:r>
            <a:r>
              <a:rPr lang="en-US" altLang="zh-CN" sz="1800" dirty="0"/>
              <a:t> </a:t>
            </a:r>
            <a:r>
              <a:rPr lang="en-US" altLang="zh-CN" sz="1800" b="1" dirty="0"/>
              <a:t>-R</a:t>
            </a:r>
            <a:r>
              <a:rPr lang="en-US" altLang="zh-CN" sz="1800" dirty="0"/>
              <a:t> </a:t>
            </a:r>
            <a:r>
              <a:rPr lang="en-US" altLang="zh-CN" sz="1800" dirty="0" err="1"/>
              <a:t>jinding.VCFBAMconfig</a:t>
            </a:r>
            <a:r>
              <a:rPr lang="en-US" altLang="zh-CN" sz="1800" dirty="0"/>
              <a:t> </a:t>
            </a:r>
            <a:r>
              <a:rPr lang="en-US" altLang="zh-CN" sz="1800" b="1" dirty="0"/>
              <a:t>-R</a:t>
            </a:r>
            <a:r>
              <a:rPr lang="en-US" altLang="zh-CN" sz="1800" dirty="0"/>
              <a:t> </a:t>
            </a:r>
            <a:r>
              <a:rPr lang="en-US" altLang="zh-CN" sz="1800" dirty="0" err="1"/>
              <a:t>campbell.VCFBAMconfig</a:t>
            </a:r>
            <a:r>
              <a:rPr lang="en-US" altLang="zh-CN" sz="1800" dirty="0"/>
              <a:t> </a:t>
            </a:r>
            <a:r>
              <a:rPr lang="en-US" altLang="zh-CN" sz="1800" b="1" dirty="0"/>
              <a:t>-R </a:t>
            </a:r>
            <a:r>
              <a:rPr lang="en-US" altLang="zh-CN" sz="1800" dirty="0" err="1"/>
              <a:t>cherryvalley.VCFBAMconfig</a:t>
            </a:r>
            <a:r>
              <a:rPr lang="en-US" altLang="zh-CN" sz="1800" dirty="0"/>
              <a:t> </a:t>
            </a:r>
            <a:r>
              <a:rPr lang="en-US" altLang="zh-CN" sz="1800" b="1" dirty="0"/>
              <a:t>-R</a:t>
            </a:r>
            <a:r>
              <a:rPr lang="en-US" altLang="zh-CN" sz="1800" dirty="0"/>
              <a:t> </a:t>
            </a:r>
            <a:r>
              <a:rPr lang="en-US" altLang="zh-CN" sz="1800" dirty="0" err="1"/>
              <a:t>beijing.VCFBAMconfig</a:t>
            </a:r>
            <a:r>
              <a:rPr lang="en-US" altLang="zh-CN" sz="1800" dirty="0"/>
              <a:t> </a:t>
            </a:r>
            <a:r>
              <a:rPr lang="en-US" altLang="zh-CN" sz="1800" b="1" dirty="0"/>
              <a:t>-R</a:t>
            </a:r>
            <a:r>
              <a:rPr lang="en-US" altLang="zh-CN" sz="1800" dirty="0"/>
              <a:t> </a:t>
            </a:r>
            <a:r>
              <a:rPr lang="en-US" altLang="zh-CN" sz="1800" dirty="0" err="1"/>
              <a:t>shaoxing.VCFBAMconfig</a:t>
            </a:r>
            <a:r>
              <a:rPr lang="en-US" altLang="zh-CN" sz="1800" dirty="0"/>
              <a:t> </a:t>
            </a:r>
            <a:r>
              <a:rPr lang="en-US" altLang="zh-CN" sz="1800" b="1" dirty="0"/>
              <a:t>-R</a:t>
            </a:r>
            <a:r>
              <a:rPr lang="en-US" altLang="zh-CN" sz="1800" dirty="0"/>
              <a:t> </a:t>
            </a:r>
            <a:r>
              <a:rPr lang="en-US" altLang="zh-CN" sz="1800" dirty="0" err="1"/>
              <a:t>shanma.VCFBAMconfig</a:t>
            </a:r>
            <a:r>
              <a:rPr lang="en-US" altLang="zh-CN" sz="1800" dirty="0"/>
              <a:t> </a:t>
            </a:r>
            <a:r>
              <a:rPr lang="en-US" altLang="zh-CN" sz="1800" b="1" dirty="0"/>
              <a:t>-w</a:t>
            </a:r>
            <a:r>
              <a:rPr lang="en-US" altLang="zh-CN" sz="1800" dirty="0"/>
              <a:t> 20000 </a:t>
            </a:r>
            <a:r>
              <a:rPr lang="en-US" altLang="zh-CN" sz="1800" b="1" dirty="0"/>
              <a:t>-s</a:t>
            </a:r>
            <a:r>
              <a:rPr lang="en-US" altLang="zh-CN" sz="1800" dirty="0"/>
              <a:t> 10000 </a:t>
            </a:r>
            <a:r>
              <a:rPr lang="en-US" altLang="zh-CN" sz="1800" b="1" dirty="0"/>
              <a:t>-c</a:t>
            </a:r>
            <a:r>
              <a:rPr lang="en-US" altLang="zh-CN" sz="1800" dirty="0"/>
              <a:t> pekingduckchrominfo.autosomescaffolds_1  -</a:t>
            </a:r>
            <a:r>
              <a:rPr lang="en-US" altLang="zh-CN" sz="1800" b="1" dirty="0"/>
              <a:t>c</a:t>
            </a:r>
            <a:r>
              <a:rPr lang="en-US" altLang="zh-CN" sz="1800" dirty="0"/>
              <a:t> pekingduckchrominfo.autosomescaffolds_2  -</a:t>
            </a:r>
            <a:r>
              <a:rPr lang="en-US" altLang="zh-CN" sz="1800" b="1" dirty="0"/>
              <a:t>c</a:t>
            </a:r>
            <a:r>
              <a:rPr lang="en-US" altLang="zh-CN" sz="1800" dirty="0"/>
              <a:t> pekingduckchrominfo.autosomescaffolds_3   -</a:t>
            </a:r>
            <a:r>
              <a:rPr lang="en-US" altLang="zh-CN" sz="1800" b="1" dirty="0"/>
              <a:t>c</a:t>
            </a:r>
            <a:r>
              <a:rPr lang="en-US" altLang="zh-CN" sz="1800" dirty="0"/>
              <a:t> pekingduckchrominfo.autosomescaffolds_4  -</a:t>
            </a:r>
            <a:r>
              <a:rPr lang="en-US" altLang="zh-CN" sz="1800" b="1" dirty="0"/>
              <a:t>c</a:t>
            </a:r>
            <a:r>
              <a:rPr lang="en-US" altLang="zh-CN" sz="1800" dirty="0"/>
              <a:t> pekingduckchrominfo.autosomescaffolds_5   -</a:t>
            </a:r>
            <a:r>
              <a:rPr lang="en-US" altLang="zh-CN" sz="1800" b="1" dirty="0"/>
              <a:t>c</a:t>
            </a:r>
            <a:r>
              <a:rPr lang="en-US" altLang="zh-CN" sz="1800" dirty="0"/>
              <a:t> pekingduckchrominfo.autosomescaffolds_6  -</a:t>
            </a:r>
            <a:r>
              <a:rPr lang="en-US" altLang="zh-CN" sz="1800" b="1" dirty="0"/>
              <a:t>c</a:t>
            </a:r>
            <a:r>
              <a:rPr lang="en-US" altLang="zh-CN" sz="1800" dirty="0"/>
              <a:t> pekingduckchrominfo.autosomescaffolds_7  -</a:t>
            </a:r>
            <a:r>
              <a:rPr lang="en-US" altLang="zh-CN" sz="1800" b="1" dirty="0"/>
              <a:t>c</a:t>
            </a:r>
            <a:r>
              <a:rPr lang="en-US" altLang="zh-CN" sz="1800" dirty="0"/>
              <a:t> pekingduckchrominfo.autosomescaffolds_8  </a:t>
            </a:r>
            <a:r>
              <a:rPr lang="en-US" altLang="zh-CN" sz="1800" b="1" dirty="0"/>
              <a:t>-1</a:t>
            </a:r>
            <a:r>
              <a:rPr lang="en-US" altLang="zh-CN" sz="1800" dirty="0"/>
              <a:t> life/src/NGS/Slave/Detectsignalacrossgenome_producecorrelation_slave.py -</a:t>
            </a:r>
            <a:r>
              <a:rPr lang="en-US" altLang="zh-CN" sz="1800" b="1" dirty="0"/>
              <a:t>2</a:t>
            </a:r>
            <a:r>
              <a:rPr lang="en-US" altLang="zh-CN" sz="1800" dirty="0"/>
              <a:t> life/src/NGS/Slave/Detectsignalacrossgenome_slidewin_slave.py -</a:t>
            </a:r>
            <a:r>
              <a:rPr lang="en-US" altLang="zh-CN" sz="1800" b="1" dirty="0"/>
              <a:t>p</a:t>
            </a:r>
            <a:r>
              <a:rPr lang="en-US" altLang="zh-CN" sz="1800" dirty="0"/>
              <a:t> early</a:t>
            </a:r>
            <a:endParaRPr lang="zh-CN" altLang="en-US" sz="1800" dirty="0"/>
          </a:p>
        </p:txBody>
      </p:sp>
      <p:sp>
        <p:nvSpPr>
          <p:cNvPr id="5" name="TextBox 4"/>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sp>
        <p:nvSpPr>
          <p:cNvPr id="4" name="右大括号 3"/>
          <p:cNvSpPr/>
          <p:nvPr/>
        </p:nvSpPr>
        <p:spPr>
          <a:xfrm>
            <a:off x="5436096" y="3789040"/>
            <a:ext cx="216024" cy="1800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5"/>
          <p:cNvSpPr txBox="1"/>
          <p:nvPr/>
        </p:nvSpPr>
        <p:spPr>
          <a:xfrm>
            <a:off x="5652120" y="4504474"/>
            <a:ext cx="3487352" cy="923330"/>
          </a:xfrm>
          <a:prstGeom prst="rect">
            <a:avLst/>
          </a:prstGeom>
          <a:noFill/>
        </p:spPr>
        <p:txBody>
          <a:bodyPr wrap="square" rtlCol="0">
            <a:spAutoFit/>
          </a:bodyPr>
          <a:lstStyle/>
          <a:p>
            <a:r>
              <a:rPr lang="en-US" altLang="zh-CN" dirty="0"/>
              <a:t>Split whole genome into different stretch to calculate in different slave process or machine</a:t>
            </a:r>
            <a:endParaRPr lang="zh-CN" altLang="en-US" dirty="0"/>
          </a:p>
        </p:txBody>
      </p:sp>
    </p:spTree>
    <p:extLst>
      <p:ext uri="{BB962C8B-B14F-4D97-AF65-F5344CB8AC3E}">
        <p14:creationId xmlns:p14="http://schemas.microsoft.com/office/powerpoint/2010/main" val="1538647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normAutofit/>
          </a:bodyPr>
          <a:lstStyle/>
          <a:p>
            <a:r>
              <a:rPr lang="en-US" altLang="zh-CN" sz="3200" dirty="0"/>
              <a:t>-T/-R </a:t>
            </a:r>
            <a:r>
              <a:rPr lang="en-US" altLang="zh-CN" sz="3200" dirty="0" err="1"/>
              <a:t>mallard.VCFBAMconfig</a:t>
            </a:r>
            <a:r>
              <a:rPr lang="en-US" altLang="zh-CN" sz="3200" dirty="0"/>
              <a:t>  file</a:t>
            </a:r>
            <a:endParaRPr lang="zh-CN" altLang="en-US" sz="3200" dirty="0"/>
          </a:p>
        </p:txBody>
      </p:sp>
      <p:pic>
        <p:nvPicPr>
          <p:cNvPr id="6" name="内容占位符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268760"/>
            <a:ext cx="7800975" cy="2924175"/>
          </a:xfrm>
        </p:spPr>
      </p:pic>
      <p:cxnSp>
        <p:nvCxnSpPr>
          <p:cNvPr id="9" name="直接箭头连接符 8"/>
          <p:cNvCxnSpPr/>
          <p:nvPr/>
        </p:nvCxnSpPr>
        <p:spPr>
          <a:xfrm>
            <a:off x="1296144" y="3814936"/>
            <a:ext cx="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83568" y="4869160"/>
            <a:ext cx="1368152" cy="646331"/>
          </a:xfrm>
          <a:prstGeom prst="rect">
            <a:avLst/>
          </a:prstGeom>
          <a:noFill/>
        </p:spPr>
        <p:txBody>
          <a:bodyPr wrap="square" rtlCol="0">
            <a:spAutoFit/>
          </a:bodyPr>
          <a:lstStyle/>
          <a:p>
            <a:r>
              <a:rPr lang="en-US" altLang="zh-CN" dirty="0"/>
              <a:t>Population </a:t>
            </a:r>
            <a:r>
              <a:rPr lang="en-US" altLang="zh-CN" dirty="0" err="1"/>
              <a:t>vcf</a:t>
            </a:r>
            <a:r>
              <a:rPr lang="en-US" altLang="zh-CN" dirty="0"/>
              <a:t> file</a:t>
            </a:r>
            <a:endParaRPr lang="zh-CN" altLang="en-US" dirty="0"/>
          </a:p>
        </p:txBody>
      </p:sp>
      <p:cxnSp>
        <p:nvCxnSpPr>
          <p:cNvPr id="12" name="直接箭头连接符 11"/>
          <p:cNvCxnSpPr/>
          <p:nvPr/>
        </p:nvCxnSpPr>
        <p:spPr>
          <a:xfrm>
            <a:off x="4932040" y="4026701"/>
            <a:ext cx="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71800" y="4869160"/>
            <a:ext cx="6120680" cy="923330"/>
          </a:xfrm>
          <a:prstGeom prst="rect">
            <a:avLst/>
          </a:prstGeom>
          <a:noFill/>
        </p:spPr>
        <p:txBody>
          <a:bodyPr wrap="square" rtlCol="0">
            <a:spAutoFit/>
          </a:bodyPr>
          <a:lstStyle/>
          <a:p>
            <a:r>
              <a:rPr lang="en-US" altLang="zh-CN" dirty="0"/>
              <a:t>Bam file list that used to produce </a:t>
            </a:r>
            <a:r>
              <a:rPr lang="en-US" altLang="zh-CN" dirty="0" err="1"/>
              <a:t>vcf</a:t>
            </a:r>
            <a:r>
              <a:rPr lang="en-US" altLang="zh-CN" dirty="0"/>
              <a:t> file.</a:t>
            </a:r>
          </a:p>
          <a:p>
            <a:r>
              <a:rPr lang="en-US" altLang="zh-CN" dirty="0"/>
              <a:t>Used to check sites is uncovered or fixed as reference allele </a:t>
            </a:r>
            <a:r>
              <a:rPr lang="en-US" altLang="zh-CN" dirty="0" err="1"/>
              <a:t>whhen</a:t>
            </a:r>
            <a:r>
              <a:rPr lang="en-US" altLang="zh-CN" dirty="0"/>
              <a:t> multiple populations are used in frequency calculation</a:t>
            </a:r>
            <a:endParaRPr lang="zh-CN" altLang="en-US" dirty="0"/>
          </a:p>
        </p:txBody>
      </p:sp>
      <p:sp>
        <p:nvSpPr>
          <p:cNvPr id="15" name="TextBox 14"/>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spTree>
    <p:extLst>
      <p:ext uri="{BB962C8B-B14F-4D97-AF65-F5344CB8AC3E}">
        <p14:creationId xmlns:p14="http://schemas.microsoft.com/office/powerpoint/2010/main" val="53190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-c pekingduckchrominfo.autosomescaffolds_1</a:t>
            </a:r>
            <a:endParaRPr lang="zh-CN" altLang="en-US" sz="3200"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9761" y="1484784"/>
            <a:ext cx="7219950" cy="2466975"/>
          </a:xfrm>
        </p:spPr>
      </p:pic>
      <p:sp>
        <p:nvSpPr>
          <p:cNvPr id="4" name="TextBox 3"/>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cxnSp>
        <p:nvCxnSpPr>
          <p:cNvPr id="7" name="直接箭头连接符 6"/>
          <p:cNvCxnSpPr/>
          <p:nvPr/>
        </p:nvCxnSpPr>
        <p:spPr>
          <a:xfrm flipH="1">
            <a:off x="827584" y="3933056"/>
            <a:ext cx="360040"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2627784" y="3933056"/>
            <a:ext cx="432048"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23528" y="5013176"/>
            <a:ext cx="1656184" cy="369332"/>
          </a:xfrm>
          <a:prstGeom prst="rect">
            <a:avLst/>
          </a:prstGeom>
          <a:noFill/>
        </p:spPr>
        <p:txBody>
          <a:bodyPr wrap="square" rtlCol="0">
            <a:spAutoFit/>
          </a:bodyPr>
          <a:lstStyle/>
          <a:p>
            <a:r>
              <a:rPr lang="en-US" altLang="zh-CN" dirty="0"/>
              <a:t>Scaffold ID</a:t>
            </a:r>
            <a:endParaRPr lang="zh-CN" altLang="en-US" dirty="0"/>
          </a:p>
        </p:txBody>
      </p:sp>
      <p:sp>
        <p:nvSpPr>
          <p:cNvPr id="12" name="TextBox 11"/>
          <p:cNvSpPr txBox="1"/>
          <p:nvPr/>
        </p:nvSpPr>
        <p:spPr>
          <a:xfrm>
            <a:off x="2610226" y="5013176"/>
            <a:ext cx="1656184" cy="369332"/>
          </a:xfrm>
          <a:prstGeom prst="rect">
            <a:avLst/>
          </a:prstGeom>
          <a:noFill/>
        </p:spPr>
        <p:txBody>
          <a:bodyPr wrap="square" rtlCol="0">
            <a:spAutoFit/>
          </a:bodyPr>
          <a:lstStyle/>
          <a:p>
            <a:r>
              <a:rPr lang="en-US" altLang="zh-CN" dirty="0"/>
              <a:t>Scaffold length</a:t>
            </a:r>
            <a:endParaRPr lang="zh-CN" altLang="en-US" dirty="0"/>
          </a:p>
        </p:txBody>
      </p:sp>
      <p:sp>
        <p:nvSpPr>
          <p:cNvPr id="13" name="TextBox 12"/>
          <p:cNvSpPr txBox="1"/>
          <p:nvPr/>
        </p:nvSpPr>
        <p:spPr>
          <a:xfrm>
            <a:off x="4932040" y="4401108"/>
            <a:ext cx="3384376" cy="1477328"/>
          </a:xfrm>
          <a:prstGeom prst="rect">
            <a:avLst/>
          </a:prstGeom>
          <a:noFill/>
        </p:spPr>
        <p:txBody>
          <a:bodyPr wrap="square" rtlCol="0">
            <a:spAutoFit/>
          </a:bodyPr>
          <a:lstStyle/>
          <a:p>
            <a:r>
              <a:rPr lang="en-US" altLang="zh-CN" dirty="0"/>
              <a:t>In this case , calculation was divided into 8 threads. And all the results from those 8 threads will be merged automatically in the end.</a:t>
            </a:r>
            <a:endParaRPr lang="zh-CN" altLang="en-US" dirty="0"/>
          </a:p>
        </p:txBody>
      </p:sp>
    </p:spTree>
    <p:extLst>
      <p:ext uri="{BB962C8B-B14F-4D97-AF65-F5344CB8AC3E}">
        <p14:creationId xmlns:p14="http://schemas.microsoft.com/office/powerpoint/2010/main" val="2241269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936104"/>
          </a:xfrm>
        </p:spPr>
        <p:txBody>
          <a:bodyPr>
            <a:normAutofit/>
          </a:bodyPr>
          <a:lstStyle/>
          <a:p>
            <a:r>
              <a:rPr lang="en-US" altLang="zh-CN" sz="3200" dirty="0"/>
              <a:t>-t mspsgjlksy10pop_toplevel_pekingduckref</a:t>
            </a:r>
            <a:endParaRPr lang="zh-CN" altLang="en-US" sz="3200"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908720"/>
            <a:ext cx="8572110" cy="2218049"/>
          </a:xfrm>
        </p:spPr>
      </p:pic>
      <p:sp>
        <p:nvSpPr>
          <p:cNvPr id="6" name="矩形 5"/>
          <p:cNvSpPr/>
          <p:nvPr/>
        </p:nvSpPr>
        <p:spPr>
          <a:xfrm>
            <a:off x="-36512" y="3212976"/>
            <a:ext cx="5701186" cy="3754874"/>
          </a:xfrm>
          <a:prstGeom prst="rect">
            <a:avLst/>
          </a:prstGeom>
        </p:spPr>
        <p:txBody>
          <a:bodyPr wrap="square">
            <a:spAutoFit/>
          </a:bodyPr>
          <a:lstStyle/>
          <a:p>
            <a:r>
              <a:rPr lang="en-US" altLang="zh-CN" sz="1400" dirty="0"/>
              <a:t>CREATE TABLE `mspsgjlksy10pop_toplevel_pekingduckref` (                </a:t>
            </a:r>
          </a:p>
          <a:p>
            <a:r>
              <a:rPr lang="en-US" altLang="zh-CN" sz="1400" dirty="0"/>
              <a:t>`</a:t>
            </a:r>
            <a:r>
              <a:rPr lang="en-US" altLang="zh-CN" sz="1400" dirty="0" err="1"/>
              <a:t>chrID</a:t>
            </a:r>
            <a:r>
              <a:rPr lang="en-US" altLang="zh-CN" sz="1400" dirty="0"/>
              <a:t>` char(128) NOT NULL DEFAULT '',                               </a:t>
            </a:r>
          </a:p>
          <a:p>
            <a:r>
              <a:rPr lang="en-US" altLang="zh-CN" sz="1400" dirty="0"/>
              <a:t>`</a:t>
            </a:r>
            <a:r>
              <a:rPr lang="en-US" altLang="zh-CN" sz="1400" dirty="0" err="1"/>
              <a:t>snp_pos</a:t>
            </a:r>
            <a:r>
              <a:rPr lang="en-US" altLang="zh-CN" sz="1400" dirty="0"/>
              <a:t>` </a:t>
            </a:r>
            <a:r>
              <a:rPr lang="en-US" altLang="zh-CN" sz="1400" dirty="0" err="1"/>
              <a:t>bigint</a:t>
            </a:r>
            <a:r>
              <a:rPr lang="en-US" altLang="zh-CN" sz="1400" dirty="0"/>
              <a:t>(20) NOT NULL DEFAULT '0',                           </a:t>
            </a:r>
          </a:p>
          <a:p>
            <a:r>
              <a:rPr lang="en-US" altLang="zh-CN" sz="1400" dirty="0"/>
              <a:t>`</a:t>
            </a:r>
            <a:r>
              <a:rPr lang="en-US" altLang="zh-CN" sz="1400" dirty="0" err="1"/>
              <a:t>snpID</a:t>
            </a:r>
            <a:r>
              <a:rPr lang="en-US" altLang="zh-CN" sz="1400" dirty="0"/>
              <a:t>` char(128) NOT NULL,                                          </a:t>
            </a:r>
          </a:p>
          <a:p>
            <a:r>
              <a:rPr lang="en-US" altLang="zh-CN" sz="1400" dirty="0"/>
              <a:t>`</a:t>
            </a:r>
            <a:r>
              <a:rPr lang="en-US" altLang="zh-CN" sz="1400" dirty="0" err="1"/>
              <a:t>ref_base</a:t>
            </a:r>
            <a:r>
              <a:rPr lang="en-US" altLang="zh-CN" sz="1400" dirty="0"/>
              <a:t>` </a:t>
            </a:r>
            <a:r>
              <a:rPr lang="en-US" altLang="zh-CN" sz="1400" dirty="0" err="1"/>
              <a:t>varchar</a:t>
            </a:r>
            <a:r>
              <a:rPr lang="en-US" altLang="zh-CN" sz="1400" dirty="0"/>
              <a:t>(1000) DEFAULT NULL,                               </a:t>
            </a:r>
          </a:p>
          <a:p>
            <a:r>
              <a:rPr lang="en-US" altLang="zh-CN" sz="1400" dirty="0"/>
              <a:t>`</a:t>
            </a:r>
            <a:r>
              <a:rPr lang="en-US" altLang="zh-CN" sz="1400" dirty="0" err="1"/>
              <a:t>alt_base</a:t>
            </a:r>
            <a:r>
              <a:rPr lang="en-US" altLang="zh-CN" sz="1400" dirty="0"/>
              <a:t>` </a:t>
            </a:r>
            <a:r>
              <a:rPr lang="en-US" altLang="zh-CN" sz="1400" dirty="0" err="1"/>
              <a:t>varchar</a:t>
            </a:r>
            <a:r>
              <a:rPr lang="en-US" altLang="zh-CN" sz="1400" dirty="0"/>
              <a:t>(1000) DEFAULT NULL,                               </a:t>
            </a:r>
          </a:p>
          <a:p>
            <a:r>
              <a:rPr lang="en-US" altLang="zh-CN" sz="1400" dirty="0"/>
              <a:t>`context` </a:t>
            </a:r>
            <a:r>
              <a:rPr lang="en-US" altLang="zh-CN" sz="1400" dirty="0" err="1"/>
              <a:t>varchar</a:t>
            </a:r>
            <a:r>
              <a:rPr lang="en-US" altLang="zh-CN" sz="1400" dirty="0"/>
              <a:t>(3) DEFAULT NULL,                                   </a:t>
            </a:r>
          </a:p>
          <a:p>
            <a:r>
              <a:rPr lang="en-US" altLang="zh-CN" sz="1400" dirty="0"/>
              <a:t>`</a:t>
            </a:r>
            <a:r>
              <a:rPr lang="en-US" altLang="zh-CN" sz="1400" dirty="0" err="1"/>
              <a:t>wegeon</a:t>
            </a:r>
            <a:r>
              <a:rPr lang="en-US" altLang="zh-CN" sz="1400" dirty="0"/>
              <a:t>__</a:t>
            </a:r>
            <a:r>
              <a:rPr lang="en-US" altLang="zh-CN" sz="1400" dirty="0" err="1"/>
              <a:t>pool_withindel_vcf_alt</a:t>
            </a:r>
            <a:r>
              <a:rPr lang="en-US" altLang="zh-CN" sz="1400" dirty="0"/>
              <a:t>` char(128) DEFAULT NULL,             </a:t>
            </a:r>
          </a:p>
          <a:p>
            <a:r>
              <a:rPr lang="en-US" altLang="zh-CN" sz="1400" dirty="0"/>
              <a:t>`</a:t>
            </a:r>
            <a:r>
              <a:rPr lang="en-US" altLang="zh-CN" sz="1400" dirty="0" err="1"/>
              <a:t>wegeon</a:t>
            </a:r>
            <a:r>
              <a:rPr lang="en-US" altLang="zh-CN" sz="1400" dirty="0"/>
              <a:t>__</a:t>
            </a:r>
            <a:r>
              <a:rPr lang="en-US" altLang="zh-CN" sz="1400" dirty="0" err="1"/>
              <a:t>pool_withindel_vcf_dep</a:t>
            </a:r>
            <a:r>
              <a:rPr lang="en-US" altLang="zh-CN" sz="1400" dirty="0"/>
              <a:t>` char(128) DEFAULT NULL,             </a:t>
            </a:r>
          </a:p>
          <a:p>
            <a:r>
              <a:rPr lang="en-US" altLang="zh-CN" sz="1400" dirty="0"/>
              <a:t>`fanya1_pool_withindel_vcf_alt` char(128) DEFAULT NULL,              </a:t>
            </a:r>
          </a:p>
          <a:p>
            <a:r>
              <a:rPr lang="en-US" altLang="zh-CN" sz="1400" dirty="0"/>
              <a:t>`fanya1_pool_withindel_vcf_dep` char(128) DEFAULT NULL,              </a:t>
            </a:r>
          </a:p>
          <a:p>
            <a:r>
              <a:rPr lang="en-US" altLang="zh-CN" sz="1400" dirty="0"/>
              <a:t>`</a:t>
            </a:r>
            <a:r>
              <a:rPr lang="en-US" altLang="zh-CN" sz="1400" dirty="0" err="1"/>
              <a:t>barheadedgoose_pool_withindel_vcf_alt</a:t>
            </a:r>
            <a:r>
              <a:rPr lang="en-US" altLang="zh-CN" sz="1400" dirty="0"/>
              <a:t>` char(128) DEFAULT NULL,      </a:t>
            </a:r>
          </a:p>
          <a:p>
            <a:r>
              <a:rPr lang="en-US" altLang="zh-CN" sz="1400" dirty="0"/>
              <a:t>`</a:t>
            </a:r>
            <a:r>
              <a:rPr lang="en-US" altLang="zh-CN" sz="1400" dirty="0" err="1"/>
              <a:t>barheadedgoose_pool_withindel_vcf_dep</a:t>
            </a:r>
            <a:r>
              <a:rPr lang="en-US" altLang="zh-CN" sz="1400" dirty="0"/>
              <a:t>` char(128) DEFAULT NULL,      </a:t>
            </a:r>
          </a:p>
          <a:p>
            <a:r>
              <a:rPr lang="en-US" altLang="zh-CN" sz="1400" dirty="0"/>
              <a:t>`</a:t>
            </a:r>
            <a:r>
              <a:rPr lang="en-US" altLang="zh-CN" sz="1400" dirty="0" err="1"/>
              <a:t>taihudomesticgoose_pool_withindel_vcf_alt</a:t>
            </a:r>
            <a:r>
              <a:rPr lang="en-US" altLang="zh-CN" sz="1400" dirty="0"/>
              <a:t>` char(128) DEFAULT NULL,  </a:t>
            </a:r>
          </a:p>
          <a:p>
            <a:r>
              <a:rPr lang="en-US" altLang="zh-CN" sz="1400" dirty="0"/>
              <a:t>`</a:t>
            </a:r>
            <a:r>
              <a:rPr lang="en-US" altLang="zh-CN" sz="1400" dirty="0" err="1"/>
              <a:t>taihudomesticgoose_pool_withindel_vcf_dep</a:t>
            </a:r>
            <a:r>
              <a:rPr lang="en-US" altLang="zh-CN" sz="1400" dirty="0"/>
              <a:t>` char(128) DEFAULT NULL,  </a:t>
            </a:r>
          </a:p>
          <a:p>
            <a:r>
              <a:rPr lang="en-US" altLang="zh-CN" sz="1400" dirty="0"/>
              <a:t>PRIMARY KEY (`</a:t>
            </a:r>
            <a:r>
              <a:rPr lang="en-US" altLang="zh-CN" sz="1400" dirty="0" err="1"/>
              <a:t>chrID</a:t>
            </a:r>
            <a:r>
              <a:rPr lang="en-US" altLang="zh-CN" sz="1400" dirty="0"/>
              <a:t>`,`</a:t>
            </a:r>
            <a:r>
              <a:rPr lang="en-US" altLang="zh-CN" sz="1400" dirty="0" err="1"/>
              <a:t>snp_pos</a:t>
            </a:r>
            <a:r>
              <a:rPr lang="en-US" altLang="zh-CN" sz="1400" dirty="0"/>
              <a:t>`)                                      </a:t>
            </a:r>
          </a:p>
          <a:p>
            <a:r>
              <a:rPr lang="en-US" altLang="zh-CN" sz="1400" dirty="0"/>
              <a:t>) ENGINE=</a:t>
            </a:r>
            <a:r>
              <a:rPr lang="en-US" altLang="zh-CN" sz="1400" dirty="0" err="1"/>
              <a:t>InnoDB</a:t>
            </a:r>
            <a:r>
              <a:rPr lang="en-US" altLang="zh-CN" sz="1400" dirty="0"/>
              <a:t> DEFAULT CHARSET=utf8</a:t>
            </a:r>
            <a:endParaRPr lang="zh-CN" altLang="en-US" sz="1400" dirty="0"/>
          </a:p>
        </p:txBody>
      </p:sp>
      <p:sp>
        <p:nvSpPr>
          <p:cNvPr id="7" name="TextBox 6"/>
          <p:cNvSpPr txBox="1"/>
          <p:nvPr/>
        </p:nvSpPr>
        <p:spPr>
          <a:xfrm>
            <a:off x="4932040" y="3068960"/>
            <a:ext cx="4536504" cy="2893100"/>
          </a:xfrm>
          <a:prstGeom prst="rect">
            <a:avLst/>
          </a:prstGeom>
          <a:noFill/>
        </p:spPr>
        <p:txBody>
          <a:bodyPr wrap="square" rtlCol="0">
            <a:spAutoFit/>
          </a:bodyPr>
          <a:lstStyle/>
          <a:p>
            <a:r>
              <a:rPr lang="en-US" altLang="zh-CN" sz="1400" dirty="0" err="1"/>
              <a:t>Thit</a:t>
            </a:r>
            <a:r>
              <a:rPr lang="en-US" altLang="zh-CN" sz="1400" dirty="0"/>
              <a:t> table can be initially create by such command:</a:t>
            </a:r>
          </a:p>
          <a:p>
            <a:r>
              <a:rPr lang="en-US" altLang="zh-CN" sz="1400" dirty="0"/>
              <a:t>CREATE TABLE `mspsgjlksy10pop_toplevel_pekingduckref` (                </a:t>
            </a:r>
          </a:p>
          <a:p>
            <a:r>
              <a:rPr lang="en-US" altLang="zh-CN" sz="1400" dirty="0"/>
              <a:t>`</a:t>
            </a:r>
            <a:r>
              <a:rPr lang="en-US" altLang="zh-CN" sz="1400" dirty="0" err="1"/>
              <a:t>chrID</a:t>
            </a:r>
            <a:r>
              <a:rPr lang="en-US" altLang="zh-CN" sz="1400" dirty="0"/>
              <a:t>` char(128) NOT NULL DEFAULT '',                               </a:t>
            </a:r>
          </a:p>
          <a:p>
            <a:r>
              <a:rPr lang="en-US" altLang="zh-CN" sz="1400" dirty="0"/>
              <a:t>`</a:t>
            </a:r>
            <a:r>
              <a:rPr lang="en-US" altLang="zh-CN" sz="1400" dirty="0" err="1"/>
              <a:t>snp_pos</a:t>
            </a:r>
            <a:r>
              <a:rPr lang="en-US" altLang="zh-CN" sz="1400" dirty="0"/>
              <a:t>` </a:t>
            </a:r>
            <a:r>
              <a:rPr lang="en-US" altLang="zh-CN" sz="1400" dirty="0" err="1"/>
              <a:t>bigint</a:t>
            </a:r>
            <a:r>
              <a:rPr lang="en-US" altLang="zh-CN" sz="1400" dirty="0"/>
              <a:t>(20) NOT NULL DEFAULT '0',                           </a:t>
            </a:r>
          </a:p>
          <a:p>
            <a:r>
              <a:rPr lang="en-US" altLang="zh-CN" sz="1400" dirty="0"/>
              <a:t>`</a:t>
            </a:r>
            <a:r>
              <a:rPr lang="en-US" altLang="zh-CN" sz="1400" dirty="0" err="1"/>
              <a:t>snpID</a:t>
            </a:r>
            <a:r>
              <a:rPr lang="en-US" altLang="zh-CN" sz="1400" dirty="0"/>
              <a:t>` char(128) NOT NULL,                                          </a:t>
            </a:r>
          </a:p>
          <a:p>
            <a:r>
              <a:rPr lang="en-US" altLang="zh-CN" sz="1400" dirty="0"/>
              <a:t>`</a:t>
            </a:r>
            <a:r>
              <a:rPr lang="en-US" altLang="zh-CN" sz="1400" dirty="0" err="1"/>
              <a:t>ref_base</a:t>
            </a:r>
            <a:r>
              <a:rPr lang="en-US" altLang="zh-CN" sz="1400" dirty="0"/>
              <a:t>` </a:t>
            </a:r>
            <a:r>
              <a:rPr lang="en-US" altLang="zh-CN" sz="1400" dirty="0" err="1"/>
              <a:t>varchar</a:t>
            </a:r>
            <a:r>
              <a:rPr lang="en-US" altLang="zh-CN" sz="1400" dirty="0"/>
              <a:t>(1000) DEFAULT NULL,                               </a:t>
            </a:r>
          </a:p>
          <a:p>
            <a:r>
              <a:rPr lang="en-US" altLang="zh-CN" sz="1400" dirty="0"/>
              <a:t>`</a:t>
            </a:r>
            <a:r>
              <a:rPr lang="en-US" altLang="zh-CN" sz="1400" dirty="0" err="1"/>
              <a:t>alt_base</a:t>
            </a:r>
            <a:r>
              <a:rPr lang="en-US" altLang="zh-CN" sz="1400" dirty="0"/>
              <a:t>` </a:t>
            </a:r>
            <a:r>
              <a:rPr lang="en-US" altLang="zh-CN" sz="1400" dirty="0" err="1"/>
              <a:t>varchar</a:t>
            </a:r>
            <a:r>
              <a:rPr lang="en-US" altLang="zh-CN" sz="1400" dirty="0"/>
              <a:t>(1000) DEFAULT NULL,                               </a:t>
            </a:r>
          </a:p>
          <a:p>
            <a:r>
              <a:rPr lang="en-US" altLang="zh-CN" sz="1400" dirty="0"/>
              <a:t>`context` </a:t>
            </a:r>
            <a:r>
              <a:rPr lang="en-US" altLang="zh-CN" sz="1400" dirty="0" err="1"/>
              <a:t>varchar</a:t>
            </a:r>
            <a:r>
              <a:rPr lang="en-US" altLang="zh-CN" sz="1400" dirty="0"/>
              <a:t>(3) DEFAULT NULL, PRIMARY KEY (`</a:t>
            </a:r>
            <a:r>
              <a:rPr lang="en-US" altLang="zh-CN" sz="1400" dirty="0" err="1"/>
              <a:t>chrID</a:t>
            </a:r>
            <a:r>
              <a:rPr lang="en-US" altLang="zh-CN" sz="1400" dirty="0"/>
              <a:t>`,`</a:t>
            </a:r>
            <a:r>
              <a:rPr lang="en-US" altLang="zh-CN" sz="1400" dirty="0" err="1"/>
              <a:t>snp_pos</a:t>
            </a:r>
            <a:r>
              <a:rPr lang="en-US" altLang="zh-CN" sz="1400" dirty="0"/>
              <a:t>`)                                      </a:t>
            </a:r>
          </a:p>
          <a:p>
            <a:r>
              <a:rPr lang="en-US" altLang="zh-CN" sz="1400" dirty="0"/>
              <a:t>) ENGINE=</a:t>
            </a:r>
            <a:r>
              <a:rPr lang="en-US" altLang="zh-CN" sz="1400" dirty="0" err="1"/>
              <a:t>InnoDB</a:t>
            </a:r>
            <a:r>
              <a:rPr lang="en-US" altLang="zh-CN" sz="1400" dirty="0"/>
              <a:t> DEFAULT CHARSET=utf8</a:t>
            </a:r>
            <a:endParaRPr lang="zh-CN" altLang="en-US" sz="1400" dirty="0"/>
          </a:p>
          <a:p>
            <a:r>
              <a:rPr lang="en-US" altLang="zh-CN" sz="1400" dirty="0"/>
              <a:t>The other information(sites and out group population information) could be filled automatically when this table is used.</a:t>
            </a:r>
            <a:endParaRPr lang="zh-CN" altLang="en-US" sz="1400" dirty="0"/>
          </a:p>
        </p:txBody>
      </p:sp>
      <p:cxnSp>
        <p:nvCxnSpPr>
          <p:cNvPr id="9" name="直接箭头连接符 8"/>
          <p:cNvCxnSpPr>
            <a:endCxn id="10" idx="0"/>
          </p:cNvCxnSpPr>
          <p:nvPr/>
        </p:nvCxnSpPr>
        <p:spPr>
          <a:xfrm>
            <a:off x="7200292" y="2132856"/>
            <a:ext cx="269776"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96136" y="2492896"/>
            <a:ext cx="3347864" cy="369332"/>
          </a:xfrm>
          <a:prstGeom prst="rect">
            <a:avLst/>
          </a:prstGeom>
          <a:noFill/>
        </p:spPr>
        <p:txBody>
          <a:bodyPr wrap="square" rtlCol="0">
            <a:spAutoFit/>
          </a:bodyPr>
          <a:lstStyle/>
          <a:p>
            <a:r>
              <a:rPr lang="en-US" altLang="zh-CN" dirty="0"/>
              <a:t>Ref allele depth, alt allele depth</a:t>
            </a:r>
            <a:endParaRPr lang="zh-CN" altLang="en-US" dirty="0"/>
          </a:p>
        </p:txBody>
      </p:sp>
      <p:sp>
        <p:nvSpPr>
          <p:cNvPr id="14" name="TextBox 13"/>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spTree>
    <p:extLst>
      <p:ext uri="{BB962C8B-B14F-4D97-AF65-F5344CB8AC3E}">
        <p14:creationId xmlns:p14="http://schemas.microsoft.com/office/powerpoint/2010/main" val="229221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normAutofit/>
          </a:bodyPr>
          <a:lstStyle/>
          <a:p>
            <a:r>
              <a:rPr lang="en-US" altLang="zh-CN" sz="3200" dirty="0" err="1"/>
              <a:t>config.properties</a:t>
            </a:r>
            <a:r>
              <a:rPr lang="en-US" altLang="zh-CN" sz="3200" dirty="0"/>
              <a:t> file</a:t>
            </a:r>
            <a:endParaRPr lang="zh-CN" altLang="en-US" sz="3200" dirty="0"/>
          </a:p>
        </p:txBody>
      </p:sp>
      <p:sp>
        <p:nvSpPr>
          <p:cNvPr id="3" name="内容占位符 2"/>
          <p:cNvSpPr>
            <a:spLocks noGrp="1"/>
          </p:cNvSpPr>
          <p:nvPr>
            <p:ph idx="1"/>
          </p:nvPr>
        </p:nvSpPr>
        <p:spPr/>
        <p:txBody>
          <a:bodyPr>
            <a:normAutofit fontScale="62500" lnSpcReduction="20000"/>
          </a:bodyPr>
          <a:lstStyle/>
          <a:p>
            <a:pPr marL="0" indent="0">
              <a:buNone/>
            </a:pPr>
            <a:r>
              <a:rPr lang="en-US" altLang="zh-CN" dirty="0"/>
              <a:t>[</a:t>
            </a:r>
            <a:r>
              <a:rPr lang="en-US" altLang="zh-CN" dirty="0" err="1"/>
              <a:t>mysqldatabase</a:t>
            </a:r>
            <a:r>
              <a:rPr lang="en-US" altLang="zh-CN" dirty="0"/>
              <a:t>]</a:t>
            </a:r>
          </a:p>
          <a:p>
            <a:pPr marL="0" indent="0">
              <a:buNone/>
            </a:pPr>
            <a:r>
              <a:rPr lang="en-US" altLang="zh-CN" dirty="0" err="1"/>
              <a:t>ip</a:t>
            </a:r>
            <a:r>
              <a:rPr lang="en-US" altLang="zh-CN" dirty="0"/>
              <a:t>=10.2.48.147</a:t>
            </a:r>
          </a:p>
          <a:p>
            <a:pPr marL="0" indent="0">
              <a:buNone/>
            </a:pPr>
            <a:r>
              <a:rPr lang="en-US" altLang="zh-CN" dirty="0"/>
              <a:t>username=root</a:t>
            </a:r>
          </a:p>
          <a:p>
            <a:pPr marL="0" indent="0">
              <a:buNone/>
            </a:pPr>
            <a:r>
              <a:rPr lang="en-US" altLang="zh-CN" dirty="0"/>
              <a:t>password=1234567</a:t>
            </a:r>
          </a:p>
          <a:p>
            <a:pPr marL="0" indent="0">
              <a:buNone/>
            </a:pPr>
            <a:r>
              <a:rPr lang="en-US" altLang="zh-CN" dirty="0" err="1"/>
              <a:t>webdbname</a:t>
            </a:r>
            <a:r>
              <a:rPr lang="en-US" altLang="zh-CN" dirty="0"/>
              <a:t>=</a:t>
            </a:r>
            <a:r>
              <a:rPr lang="en-US" altLang="zh-CN" dirty="0" err="1"/>
              <a:t>ninglabweb</a:t>
            </a:r>
            <a:endParaRPr lang="en-US" altLang="zh-CN" dirty="0"/>
          </a:p>
          <a:p>
            <a:pPr marL="0" indent="0">
              <a:buNone/>
            </a:pPr>
            <a:r>
              <a:rPr lang="en-US" altLang="zh-CN" dirty="0" err="1"/>
              <a:t>vcfdbname</a:t>
            </a:r>
            <a:r>
              <a:rPr lang="en-US" altLang="zh-CN" dirty="0"/>
              <a:t>=</a:t>
            </a:r>
            <a:r>
              <a:rPr lang="en-US" altLang="zh-CN" dirty="0" err="1"/>
              <a:t>ninglabvariantdata</a:t>
            </a:r>
            <a:endParaRPr lang="en-US" altLang="zh-CN" dirty="0"/>
          </a:p>
          <a:p>
            <a:pPr marL="0" indent="0">
              <a:buNone/>
            </a:pPr>
            <a:r>
              <a:rPr lang="en-US" altLang="zh-CN" dirty="0" err="1"/>
              <a:t>ghostdbname</a:t>
            </a:r>
            <a:r>
              <a:rPr lang="en-US" altLang="zh-CN" dirty="0"/>
              <a:t>=</a:t>
            </a:r>
            <a:r>
              <a:rPr lang="en-US" altLang="zh-CN" dirty="0" err="1"/>
              <a:t>ninglabvariantdata_tmp</a:t>
            </a:r>
            <a:endParaRPr lang="en-US" altLang="zh-CN" dirty="0"/>
          </a:p>
          <a:p>
            <a:pPr marL="0" indent="0">
              <a:buNone/>
            </a:pPr>
            <a:r>
              <a:rPr lang="en-US" altLang="zh-CN" dirty="0" err="1"/>
              <a:t>genomeinfodbname</a:t>
            </a:r>
            <a:r>
              <a:rPr lang="en-US" altLang="zh-CN" dirty="0"/>
              <a:t>=</a:t>
            </a:r>
            <a:r>
              <a:rPr lang="en-US" altLang="zh-CN" dirty="0" err="1"/>
              <a:t>genomebasicinfo</a:t>
            </a:r>
            <a:endParaRPr lang="en-US" altLang="zh-CN" dirty="0"/>
          </a:p>
          <a:p>
            <a:pPr marL="0" indent="0">
              <a:buNone/>
            </a:pPr>
            <a:r>
              <a:rPr lang="en-US" altLang="zh-CN" dirty="0" err="1"/>
              <a:t>pekingduckchromtable</a:t>
            </a:r>
            <a:r>
              <a:rPr lang="en-US" altLang="zh-CN" dirty="0"/>
              <a:t>=</a:t>
            </a:r>
            <a:r>
              <a:rPr lang="en-US" altLang="zh-CN" dirty="0" err="1"/>
              <a:t>pekingduckchrominfo</a:t>
            </a:r>
            <a:endParaRPr lang="en-US" altLang="zh-CN" dirty="0"/>
          </a:p>
          <a:p>
            <a:pPr marL="0" indent="0">
              <a:buNone/>
            </a:pPr>
            <a:r>
              <a:rPr lang="en-US" altLang="zh-CN" dirty="0" err="1"/>
              <a:t>TranscriptGenetable</a:t>
            </a:r>
            <a:r>
              <a:rPr lang="en-US" altLang="zh-CN" dirty="0"/>
              <a:t>=</a:t>
            </a:r>
            <a:r>
              <a:rPr lang="en-US" altLang="zh-CN" dirty="0" err="1"/>
              <a:t>pekinduckmiRNA_Transcript</a:t>
            </a:r>
            <a:endParaRPr lang="en-US" altLang="zh-CN" dirty="0"/>
          </a:p>
          <a:p>
            <a:pPr marL="0" indent="0">
              <a:buNone/>
            </a:pPr>
            <a:r>
              <a:rPr lang="en-US" altLang="zh-CN" dirty="0" err="1"/>
              <a:t>outgroupVCFBAMconfig_beijingref</a:t>
            </a:r>
            <a:r>
              <a:rPr lang="en-US" altLang="zh-CN" dirty="0"/>
              <a:t>=/home/</a:t>
            </a:r>
            <a:r>
              <a:rPr lang="en-US" altLang="zh-CN" dirty="0" err="1"/>
              <a:t>liurui</a:t>
            </a:r>
            <a:r>
              <a:rPr lang="en-US" altLang="zh-CN" dirty="0"/>
              <a:t>/data/</a:t>
            </a:r>
            <a:r>
              <a:rPr lang="en-US" altLang="zh-CN" dirty="0" err="1"/>
              <a:t>config</a:t>
            </a:r>
            <a:r>
              <a:rPr lang="en-US" altLang="zh-CN" dirty="0"/>
              <a:t>/BJ/</a:t>
            </a:r>
            <a:r>
              <a:rPr lang="en-US" altLang="zh-CN" dirty="0" err="1"/>
              <a:t>fanyaBJ.VCFBAMconfig</a:t>
            </a:r>
            <a:r>
              <a:rPr lang="en-US" altLang="zh-CN" dirty="0"/>
              <a:t>;/home/</a:t>
            </a:r>
            <a:r>
              <a:rPr lang="en-US" altLang="zh-CN" dirty="0" err="1"/>
              <a:t>liurui</a:t>
            </a:r>
            <a:r>
              <a:rPr lang="en-US" altLang="zh-CN" dirty="0"/>
              <a:t>/data/</a:t>
            </a:r>
            <a:r>
              <a:rPr lang="en-US" altLang="zh-CN" dirty="0" err="1"/>
              <a:t>config</a:t>
            </a:r>
            <a:r>
              <a:rPr lang="en-US" altLang="zh-CN" dirty="0"/>
              <a:t>/BJ/</a:t>
            </a:r>
            <a:r>
              <a:rPr lang="en-US" altLang="zh-CN" dirty="0" err="1"/>
              <a:t>taihugooseBJ.VCFBAMconfig</a:t>
            </a:r>
            <a:endParaRPr lang="en-US" altLang="zh-CN" dirty="0"/>
          </a:p>
          <a:p>
            <a:pPr marL="0" indent="0">
              <a:buNone/>
            </a:pPr>
            <a:r>
              <a:rPr lang="en-US" altLang="zh-CN" dirty="0" err="1"/>
              <a:t>beijingreffa</a:t>
            </a:r>
            <a:r>
              <a:rPr lang="en-US" altLang="zh-CN" dirty="0"/>
              <a:t>=/home/</a:t>
            </a:r>
            <a:r>
              <a:rPr lang="en-US" altLang="zh-CN" dirty="0" err="1"/>
              <a:t>liurui</a:t>
            </a:r>
            <a:r>
              <a:rPr lang="en-US" altLang="zh-CN" dirty="0"/>
              <a:t>/databases/Anas_platyrhynchos.BGI_duck_1.0.dna_sm.toplevel.fa</a:t>
            </a:r>
          </a:p>
          <a:p>
            <a:pPr marL="0" indent="0">
              <a:buNone/>
            </a:pPr>
            <a:r>
              <a:rPr lang="en-US" altLang="zh-CN" dirty="0" err="1"/>
              <a:t>pathtoPython</a:t>
            </a:r>
            <a:r>
              <a:rPr lang="en-US" altLang="zh-CN" dirty="0"/>
              <a:t>=Python3.3/python</a:t>
            </a:r>
          </a:p>
          <a:p>
            <a:pPr marL="0" indent="0">
              <a:buNone/>
            </a:pPr>
            <a:endParaRPr lang="zh-CN" altLang="en-US" dirty="0"/>
          </a:p>
        </p:txBody>
      </p:sp>
      <p:cxnSp>
        <p:nvCxnSpPr>
          <p:cNvPr id="5" name="直接箭头连接符 4"/>
          <p:cNvCxnSpPr/>
          <p:nvPr/>
        </p:nvCxnSpPr>
        <p:spPr>
          <a:xfrm flipV="1">
            <a:off x="3669432" y="2229768"/>
            <a:ext cx="1728192"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右大括号 5"/>
          <p:cNvSpPr/>
          <p:nvPr/>
        </p:nvSpPr>
        <p:spPr>
          <a:xfrm>
            <a:off x="3275856" y="1844824"/>
            <a:ext cx="360040" cy="8640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5724128" y="1700808"/>
            <a:ext cx="1728192" cy="646331"/>
          </a:xfrm>
          <a:prstGeom prst="rect">
            <a:avLst/>
          </a:prstGeom>
          <a:noFill/>
        </p:spPr>
        <p:txBody>
          <a:bodyPr wrap="square" rtlCol="0">
            <a:spAutoFit/>
          </a:bodyPr>
          <a:lstStyle/>
          <a:p>
            <a:r>
              <a:rPr lang="en-US" altLang="zh-CN" dirty="0" err="1"/>
              <a:t>Mysql</a:t>
            </a:r>
            <a:r>
              <a:rPr lang="en-US" altLang="zh-CN" dirty="0"/>
              <a:t> database information</a:t>
            </a:r>
            <a:endParaRPr lang="zh-CN" altLang="en-US" dirty="0"/>
          </a:p>
        </p:txBody>
      </p:sp>
      <p:cxnSp>
        <p:nvCxnSpPr>
          <p:cNvPr id="9" name="直接箭头连接符 8"/>
          <p:cNvCxnSpPr/>
          <p:nvPr/>
        </p:nvCxnSpPr>
        <p:spPr>
          <a:xfrm flipV="1">
            <a:off x="3923928" y="3212976"/>
            <a:ext cx="1473696"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24128" y="3068960"/>
            <a:ext cx="2232248" cy="1200329"/>
          </a:xfrm>
          <a:prstGeom prst="rect">
            <a:avLst/>
          </a:prstGeom>
          <a:noFill/>
        </p:spPr>
        <p:txBody>
          <a:bodyPr wrap="square" rtlCol="0">
            <a:spAutoFit/>
          </a:bodyPr>
          <a:lstStyle/>
          <a:p>
            <a:r>
              <a:rPr lang="en-US" altLang="zh-CN" dirty="0"/>
              <a:t>Database that (-t )mspsgjlksy10pop_toplevel_pekingduckref belong to </a:t>
            </a:r>
            <a:endParaRPr lang="zh-CN" altLang="en-US" dirty="0"/>
          </a:p>
        </p:txBody>
      </p:sp>
      <p:cxnSp>
        <p:nvCxnSpPr>
          <p:cNvPr id="12" name="直接箭头连接符 11"/>
          <p:cNvCxnSpPr/>
          <p:nvPr/>
        </p:nvCxnSpPr>
        <p:spPr>
          <a:xfrm>
            <a:off x="2555776" y="6021288"/>
            <a:ext cx="504056"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059832" y="6484694"/>
            <a:ext cx="1728192" cy="369332"/>
          </a:xfrm>
          <a:prstGeom prst="rect">
            <a:avLst/>
          </a:prstGeom>
          <a:noFill/>
        </p:spPr>
        <p:txBody>
          <a:bodyPr wrap="square" rtlCol="0">
            <a:spAutoFit/>
          </a:bodyPr>
          <a:lstStyle/>
          <a:p>
            <a:r>
              <a:rPr lang="en-US" altLang="zh-CN" dirty="0"/>
              <a:t>Python path</a:t>
            </a:r>
            <a:endParaRPr lang="zh-CN" altLang="en-US" dirty="0"/>
          </a:p>
        </p:txBody>
      </p:sp>
      <p:cxnSp>
        <p:nvCxnSpPr>
          <p:cNvPr id="15" name="直接箭头连接符 14"/>
          <p:cNvCxnSpPr/>
          <p:nvPr/>
        </p:nvCxnSpPr>
        <p:spPr>
          <a:xfrm>
            <a:off x="7956376" y="5085184"/>
            <a:ext cx="0"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300192" y="6021288"/>
            <a:ext cx="2304256" cy="369332"/>
          </a:xfrm>
          <a:prstGeom prst="rect">
            <a:avLst/>
          </a:prstGeom>
          <a:noFill/>
        </p:spPr>
        <p:txBody>
          <a:bodyPr wrap="square" rtlCol="0">
            <a:spAutoFit/>
          </a:bodyPr>
          <a:lstStyle/>
          <a:p>
            <a:r>
              <a:rPr lang="en-US" altLang="zh-CN" dirty="0"/>
              <a:t>Out group information;</a:t>
            </a:r>
            <a:endParaRPr lang="zh-CN" altLang="en-US" dirty="0"/>
          </a:p>
        </p:txBody>
      </p:sp>
      <p:sp>
        <p:nvSpPr>
          <p:cNvPr id="17" name="TextBox 16"/>
          <p:cNvSpPr txBox="1"/>
          <p:nvPr/>
        </p:nvSpPr>
        <p:spPr>
          <a:xfrm>
            <a:off x="0" y="0"/>
            <a:ext cx="9139472" cy="369332"/>
          </a:xfrm>
          <a:prstGeom prst="rect">
            <a:avLst/>
          </a:prstGeom>
          <a:noFill/>
        </p:spPr>
        <p:txBody>
          <a:bodyPr wrap="square" rtlCol="0">
            <a:spAutoFit/>
          </a:bodyPr>
          <a:lstStyle/>
          <a:p>
            <a:r>
              <a:rPr lang="en-US" altLang="zh-CN" dirty="0"/>
              <a:t>Detect selection </a:t>
            </a:r>
            <a:r>
              <a:rPr lang="en-US" altLang="zh-CN" dirty="0" err="1"/>
              <a:t>signal:Detectsignalacrossgenome_master.py</a:t>
            </a:r>
            <a:endParaRPr lang="zh-CN" altLang="en-US" dirty="0"/>
          </a:p>
        </p:txBody>
      </p:sp>
    </p:spTree>
    <p:extLst>
      <p:ext uri="{BB962C8B-B14F-4D97-AF65-F5344CB8AC3E}">
        <p14:creationId xmlns:p14="http://schemas.microsoft.com/office/powerpoint/2010/main" val="2481941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overview</a:t>
            </a:r>
            <a:endParaRPr lang="zh-CN" altLang="en-US" sz="3200" dirty="0"/>
          </a:p>
        </p:txBody>
      </p:sp>
      <mc:AlternateContent xmlns:mc="http://schemas.openxmlformats.org/markup-compatibility/2006" xmlns:a14="http://schemas.microsoft.com/office/drawing/2010/main">
        <mc:Choice Requires="a14">
          <p:sp>
            <p:nvSpPr>
              <p:cNvPr id="5" name="TextBox 4"/>
              <p:cNvSpPr txBox="1"/>
              <p:nvPr/>
            </p:nvSpPr>
            <p:spPr>
              <a:xfrm>
                <a:off x="0" y="0"/>
                <a:ext cx="9139472" cy="369332"/>
              </a:xfrm>
              <a:prstGeom prst="rect">
                <a:avLst/>
              </a:prstGeom>
              <a:noFill/>
            </p:spPr>
            <p:txBody>
              <a:bodyPr wrap="square" rtlCol="0">
                <a:spAutoFit/>
              </a:bodyPr>
              <a:lstStyle/>
              <a:p>
                <a14:m>
                  <m:oMath xmlns:m="http://schemas.openxmlformats.org/officeDocument/2006/math">
                    <m:r>
                      <a:rPr lang="en-US" altLang="zh-CN" smtClean="0">
                        <a:latin typeface="Cambria Math"/>
                      </a:rPr>
                      <m:t>𝜕</m:t>
                    </m:r>
                  </m:oMath>
                </a14:m>
                <a:r>
                  <a:rPr lang="en-US" altLang="zh-CN" dirty="0"/>
                  <a:t>a</a:t>
                </a:r>
                <a14:m>
                  <m:oMath xmlns:m="http://schemas.openxmlformats.org/officeDocument/2006/math">
                    <m:r>
                      <a:rPr lang="en-US" altLang="zh-CN">
                        <a:latin typeface="Cambria Math"/>
                      </a:rPr>
                      <m:t>𝜕</m:t>
                    </m:r>
                    <m:r>
                      <m:rPr>
                        <m:sty m:val="p"/>
                      </m:rPr>
                      <a:rPr lang="en-US" altLang="zh-CN" b="0" i="0" smtClean="0">
                        <a:latin typeface="Cambria Math"/>
                      </a:rPr>
                      <m:t>i</m:t>
                    </m:r>
                    <m:r>
                      <a:rPr lang="en-US" altLang="zh-CN" b="0" i="0" smtClean="0">
                        <a:latin typeface="Cambria Math"/>
                      </a:rPr>
                      <m:t> </m:t>
                    </m:r>
                    <m:r>
                      <m:rPr>
                        <m:sty m:val="p"/>
                      </m:rPr>
                      <a:rPr lang="en-US" altLang="zh-CN" b="0" i="0" smtClean="0">
                        <a:latin typeface="Cambria Math"/>
                      </a:rPr>
                      <m:t>simulation</m:t>
                    </m:r>
                  </m:oMath>
                </a14:m>
                <a:r>
                  <a:rPr lang="en-US" altLang="zh-CN" dirty="0"/>
                  <a:t> : bootstrapdadisimulation.py</a:t>
                </a:r>
                <a:endParaRPr lang="zh-CN" alt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0" y="0"/>
                <a:ext cx="9139472" cy="369332"/>
              </a:xfrm>
              <a:prstGeom prst="rect">
                <a:avLst/>
              </a:prstGeom>
              <a:blipFill rotWithShape="1">
                <a:blip r:embed="rId2"/>
                <a:stretch>
                  <a:fillRect t="-8197" b="-24590"/>
                </a:stretch>
              </a:blipFill>
            </p:spPr>
            <p:txBody>
              <a:bodyPr/>
              <a:lstStyle/>
              <a:p>
                <a:r>
                  <a:rPr lang="zh-CN" altLang="en-US">
                    <a:noFill/>
                  </a:rPr>
                  <a:t> </a:t>
                </a:r>
              </a:p>
            </p:txBody>
          </p:sp>
        </mc:Fallback>
      </mc:AlternateContent>
      <p:sp>
        <p:nvSpPr>
          <p:cNvPr id="6" name="矩形 5"/>
          <p:cNvSpPr/>
          <p:nvPr/>
        </p:nvSpPr>
        <p:spPr>
          <a:xfrm>
            <a:off x="4074541" y="2323332"/>
            <a:ext cx="1728192" cy="1152128"/>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bootstrapdadisimulation.py</a:t>
            </a:r>
            <a:endParaRPr lang="zh-CN" altLang="en-US" dirty="0">
              <a:solidFill>
                <a:schemeClr val="tx1"/>
              </a:solidFill>
            </a:endParaRPr>
          </a:p>
        </p:txBody>
      </p:sp>
      <p:sp>
        <p:nvSpPr>
          <p:cNvPr id="7" name="TextBox 6"/>
          <p:cNvSpPr txBox="1"/>
          <p:nvPr/>
        </p:nvSpPr>
        <p:spPr>
          <a:xfrm>
            <a:off x="-16046" y="548680"/>
            <a:ext cx="3291902" cy="6463308"/>
          </a:xfrm>
          <a:prstGeom prst="rect">
            <a:avLst/>
          </a:prstGeom>
          <a:noFill/>
        </p:spPr>
        <p:txBody>
          <a:bodyPr wrap="square" rtlCol="0">
            <a:spAutoFit/>
          </a:bodyPr>
          <a:lstStyle/>
          <a:p>
            <a:r>
              <a:rPr lang="en-US" altLang="zh-CN" dirty="0"/>
              <a:t>-n </a:t>
            </a:r>
            <a:r>
              <a:rPr lang="en-US" altLang="zh-CN" dirty="0" err="1"/>
              <a:t>popname</a:t>
            </a:r>
            <a:r>
              <a:rPr lang="en-US" altLang="zh-CN" dirty="0"/>
              <a:t>(multiple when multiple populations were used in model, two values assign the population name and sample size that be projected to for assigned model)</a:t>
            </a:r>
          </a:p>
          <a:p>
            <a:r>
              <a:rPr lang="en-US" altLang="zh-CN" dirty="0"/>
              <a:t>-f fs file (containing population name that assigned in  -n options)</a:t>
            </a:r>
          </a:p>
          <a:p>
            <a:r>
              <a:rPr lang="en-US" altLang="zh-CN" dirty="0"/>
              <a:t>-m assign demography model that code built-in  dadicode.py</a:t>
            </a:r>
          </a:p>
          <a:p>
            <a:r>
              <a:rPr lang="en-US" altLang="zh-CN" dirty="0"/>
              <a:t>-b repeat times (two values assigning repeat times and time limit for every run)</a:t>
            </a:r>
          </a:p>
          <a:p>
            <a:r>
              <a:rPr lang="en-US" altLang="zh-CN" dirty="0"/>
              <a:t>-l total length of genome stretch that  SNPs come from</a:t>
            </a:r>
          </a:p>
          <a:p>
            <a:r>
              <a:rPr lang="en-US" altLang="zh-CN" dirty="0"/>
              <a:t>-p parameters of demographical model (multiple , 4  values assign parameter name, initial value, lower bound, upper bound for each parameter) initial value will be little different in each simulation in the range of lower bound and upper bound</a:t>
            </a:r>
          </a:p>
        </p:txBody>
      </p:sp>
      <p:sp>
        <p:nvSpPr>
          <p:cNvPr id="8" name="右大括号 7"/>
          <p:cNvSpPr/>
          <p:nvPr/>
        </p:nvSpPr>
        <p:spPr>
          <a:xfrm>
            <a:off x="3059832" y="1628801"/>
            <a:ext cx="432048" cy="3612018"/>
          </a:xfrm>
          <a:prstGeom prst="rightBrace">
            <a:avLst>
              <a:gd name="adj1" fmla="val 8333"/>
              <a:gd name="adj2" fmla="val 366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右箭头 8"/>
          <p:cNvSpPr/>
          <p:nvPr/>
        </p:nvSpPr>
        <p:spPr>
          <a:xfrm>
            <a:off x="5809999" y="2899396"/>
            <a:ext cx="638092" cy="108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3534989" y="2899396"/>
            <a:ext cx="539552" cy="108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3275856" y="2539356"/>
            <a:ext cx="798685" cy="369332"/>
          </a:xfrm>
          <a:prstGeom prst="rect">
            <a:avLst/>
          </a:prstGeom>
          <a:noFill/>
        </p:spPr>
        <p:txBody>
          <a:bodyPr wrap="square" rtlCol="0">
            <a:spAutoFit/>
          </a:bodyPr>
          <a:lstStyle/>
          <a:p>
            <a:r>
              <a:rPr lang="en-US" altLang="zh-CN" dirty="0"/>
              <a:t>input</a:t>
            </a:r>
            <a:endParaRPr lang="zh-CN" altLang="en-US" dirty="0"/>
          </a:p>
        </p:txBody>
      </p:sp>
      <p:sp>
        <p:nvSpPr>
          <p:cNvPr id="12" name="TextBox 11"/>
          <p:cNvSpPr txBox="1"/>
          <p:nvPr/>
        </p:nvSpPr>
        <p:spPr>
          <a:xfrm>
            <a:off x="6907224" y="2576230"/>
            <a:ext cx="2232248" cy="923330"/>
          </a:xfrm>
          <a:prstGeom prst="rect">
            <a:avLst/>
          </a:prstGeom>
          <a:noFill/>
        </p:spPr>
        <p:txBody>
          <a:bodyPr wrap="square" rtlCol="0">
            <a:spAutoFit/>
          </a:bodyPr>
          <a:lstStyle/>
          <a:p>
            <a:r>
              <a:rPr lang="en-US" altLang="zh-CN"/>
              <a:t>Simulation result</a:t>
            </a:r>
          </a:p>
          <a:p>
            <a:endParaRPr lang="en-US" altLang="zh-CN" dirty="0"/>
          </a:p>
          <a:p>
            <a:r>
              <a:rPr lang="en-US" altLang="zh-CN" dirty="0"/>
              <a:t>Residual arrays</a:t>
            </a:r>
          </a:p>
        </p:txBody>
      </p:sp>
      <p:sp>
        <p:nvSpPr>
          <p:cNvPr id="13" name="TextBox 12"/>
          <p:cNvSpPr txBox="1"/>
          <p:nvPr/>
        </p:nvSpPr>
        <p:spPr>
          <a:xfrm>
            <a:off x="5802733" y="2564904"/>
            <a:ext cx="915918" cy="369332"/>
          </a:xfrm>
          <a:prstGeom prst="rect">
            <a:avLst/>
          </a:prstGeom>
          <a:noFill/>
        </p:spPr>
        <p:txBody>
          <a:bodyPr wrap="square" rtlCol="0">
            <a:spAutoFit/>
          </a:bodyPr>
          <a:lstStyle/>
          <a:p>
            <a:r>
              <a:rPr lang="en-US" altLang="zh-CN" dirty="0"/>
              <a:t>output</a:t>
            </a:r>
            <a:endParaRPr lang="zh-CN" altLang="en-US" dirty="0"/>
          </a:p>
        </p:txBody>
      </p:sp>
      <p:sp>
        <p:nvSpPr>
          <p:cNvPr id="14" name="左大括号 13"/>
          <p:cNvSpPr/>
          <p:nvPr/>
        </p:nvSpPr>
        <p:spPr>
          <a:xfrm>
            <a:off x="6530079" y="2060848"/>
            <a:ext cx="377145" cy="1800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 name="直接箭头连接符 14"/>
          <p:cNvCxnSpPr>
            <a:endCxn id="16" idx="2"/>
          </p:cNvCxnSpPr>
          <p:nvPr/>
        </p:nvCxnSpPr>
        <p:spPr>
          <a:xfrm flipH="1">
            <a:off x="4885327" y="3247099"/>
            <a:ext cx="53310" cy="13932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804765" y="3717032"/>
            <a:ext cx="2161124" cy="923330"/>
          </a:xfrm>
          <a:prstGeom prst="rect">
            <a:avLst/>
          </a:prstGeom>
          <a:noFill/>
        </p:spPr>
        <p:txBody>
          <a:bodyPr wrap="square" rtlCol="0">
            <a:spAutoFit/>
          </a:bodyPr>
          <a:lstStyle/>
          <a:p>
            <a:r>
              <a:rPr lang="en-US" altLang="zh-CN" dirty="0"/>
              <a:t>Call dadicode.py and setting different initial parameters </a:t>
            </a:r>
            <a:endParaRPr lang="zh-CN" altLang="en-US" dirty="0"/>
          </a:p>
        </p:txBody>
      </p:sp>
      <p:sp>
        <p:nvSpPr>
          <p:cNvPr id="19" name="矩形 18"/>
          <p:cNvSpPr/>
          <p:nvPr/>
        </p:nvSpPr>
        <p:spPr>
          <a:xfrm>
            <a:off x="4143250" y="4725144"/>
            <a:ext cx="1590773" cy="8524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dadicode.py</a:t>
            </a:r>
            <a:endParaRPr lang="zh-CN" altLang="en-US" dirty="0">
              <a:solidFill>
                <a:schemeClr val="tx1"/>
              </a:solidFill>
            </a:endParaRPr>
          </a:p>
        </p:txBody>
      </p:sp>
      <p:cxnSp>
        <p:nvCxnSpPr>
          <p:cNvPr id="22" name="曲线连接符 21"/>
          <p:cNvCxnSpPr>
            <a:stCxn id="19" idx="2"/>
          </p:cNvCxnSpPr>
          <p:nvPr/>
        </p:nvCxnSpPr>
        <p:spPr>
          <a:xfrm rot="5400000" flipH="1" flipV="1">
            <a:off x="4182546" y="3957435"/>
            <a:ext cx="2376277" cy="864096"/>
          </a:xfrm>
          <a:prstGeom prst="curvedConnector3">
            <a:avLst>
              <a:gd name="adj1" fmla="val -9009"/>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347864" y="5733256"/>
            <a:ext cx="3816424" cy="923330"/>
          </a:xfrm>
          <a:prstGeom prst="rect">
            <a:avLst/>
          </a:prstGeom>
          <a:noFill/>
        </p:spPr>
        <p:txBody>
          <a:bodyPr wrap="square" rtlCol="0">
            <a:spAutoFit/>
          </a:bodyPr>
          <a:lstStyle/>
          <a:p>
            <a:r>
              <a:rPr lang="en-US" altLang="zh-CN" dirty="0"/>
              <a:t>Collect and convert time, population size, migration rate  into real. And collect residuals arrays</a:t>
            </a:r>
            <a:endParaRPr lang="zh-CN" altLang="en-US" dirty="0"/>
          </a:p>
        </p:txBody>
      </p:sp>
    </p:spTree>
    <p:extLst>
      <p:ext uri="{BB962C8B-B14F-4D97-AF65-F5344CB8AC3E}">
        <p14:creationId xmlns:p14="http://schemas.microsoft.com/office/powerpoint/2010/main" val="114095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usage</a:t>
            </a:r>
            <a:endParaRPr lang="zh-CN" altLang="en-US" sz="3200" dirty="0"/>
          </a:p>
        </p:txBody>
      </p:sp>
      <p:sp>
        <p:nvSpPr>
          <p:cNvPr id="3" name="内容占位符 2"/>
          <p:cNvSpPr>
            <a:spLocks noGrp="1"/>
          </p:cNvSpPr>
          <p:nvPr>
            <p:ph idx="1"/>
          </p:nvPr>
        </p:nvSpPr>
        <p:spPr>
          <a:xfrm>
            <a:off x="457200" y="1340768"/>
            <a:ext cx="8229600" cy="5517232"/>
          </a:xfrm>
        </p:spPr>
        <p:txBody>
          <a:bodyPr>
            <a:normAutofit fontScale="85000" lnSpcReduction="20000"/>
          </a:bodyPr>
          <a:lstStyle/>
          <a:p>
            <a:pPr marL="514350" indent="-514350">
              <a:buFont typeface="+mj-lt"/>
              <a:buAutoNum type="arabicPeriod"/>
            </a:pPr>
            <a:r>
              <a:rPr lang="en-US" altLang="zh-CN" dirty="0"/>
              <a:t>rewriting line 32-th with your python2.7 </a:t>
            </a:r>
            <a:r>
              <a:rPr lang="en-US" altLang="zh-CN" dirty="0" err="1"/>
              <a:t>config</a:t>
            </a:r>
            <a:r>
              <a:rPr lang="en-US" altLang="zh-CN" dirty="0"/>
              <a:t> “</a:t>
            </a:r>
            <a:r>
              <a:rPr lang="en-US" altLang="zh-CN" dirty="0" err="1"/>
              <a:t>pythonpath_pre</a:t>
            </a:r>
            <a:r>
              <a:rPr lang="en-US" altLang="zh-CN" dirty="0"/>
              <a:t>=</a:t>
            </a:r>
            <a:r>
              <a:rPr lang="en-US" altLang="zh-CN" i="1" dirty="0"/>
              <a:t>‘</a:t>
            </a:r>
            <a:r>
              <a:rPr lang="en-US" altLang="zh-CN" dirty="0"/>
              <a:t>~/Python-2.7/python ~/life/src/NGS/Analysis/usedadiPy2_7/dadicode.py ‘”</a:t>
            </a:r>
          </a:p>
          <a:p>
            <a:pPr marL="514350" indent="-514350">
              <a:buFont typeface="+mj-lt"/>
              <a:buAutoNum type="arabicPeriod"/>
            </a:pPr>
            <a:r>
              <a:rPr lang="en-US" altLang="zh-CN" dirty="0"/>
              <a:t>rewriting line 468-th with proper mutation rate</a:t>
            </a:r>
          </a:p>
          <a:p>
            <a:pPr marL="514350" indent="-514350">
              <a:buFont typeface="+mj-lt"/>
              <a:buAutoNum type="arabicPeriod"/>
            </a:pPr>
            <a:r>
              <a:rPr lang="en-US" altLang="zh-CN" dirty="0"/>
              <a:t>python ~/life/src/NGS/Analysis/usedadiPy2_7/bootstrapdadisimulation.py </a:t>
            </a:r>
            <a:r>
              <a:rPr lang="en-US" altLang="zh-CN" b="1" dirty="0"/>
              <a:t>-n </a:t>
            </a:r>
            <a:r>
              <a:rPr lang="en-US" altLang="zh-CN" dirty="0">
                <a:solidFill>
                  <a:srgbClr val="FF0000"/>
                </a:solidFill>
              </a:rPr>
              <a:t>mallard14</a:t>
            </a:r>
            <a:r>
              <a:rPr lang="en-US" altLang="zh-CN" dirty="0"/>
              <a:t>  </a:t>
            </a:r>
            <a:r>
              <a:rPr lang="en-US" altLang="zh-CN" dirty="0">
                <a:solidFill>
                  <a:schemeClr val="accent6">
                    <a:lumMod val="50000"/>
                  </a:schemeClr>
                </a:solidFill>
              </a:rPr>
              <a:t>26</a:t>
            </a:r>
            <a:r>
              <a:rPr lang="en-US" altLang="zh-CN" dirty="0"/>
              <a:t> </a:t>
            </a:r>
            <a:r>
              <a:rPr lang="en-US" altLang="zh-CN" b="1" dirty="0"/>
              <a:t>-n </a:t>
            </a:r>
            <a:r>
              <a:rPr lang="en-US" altLang="zh-CN" dirty="0" err="1">
                <a:solidFill>
                  <a:srgbClr val="FF0000"/>
                </a:solidFill>
              </a:rPr>
              <a:t>quantizpool</a:t>
            </a:r>
            <a:r>
              <a:rPr lang="en-US" altLang="zh-CN" dirty="0">
                <a:solidFill>
                  <a:srgbClr val="FF0000"/>
                </a:solidFill>
              </a:rPr>
              <a:t>  </a:t>
            </a:r>
            <a:r>
              <a:rPr lang="en-US" altLang="zh-CN" dirty="0">
                <a:solidFill>
                  <a:schemeClr val="accent6">
                    <a:lumMod val="50000"/>
                  </a:schemeClr>
                </a:solidFill>
              </a:rPr>
              <a:t>24</a:t>
            </a:r>
            <a:r>
              <a:rPr lang="en-US" altLang="zh-CN" dirty="0">
                <a:solidFill>
                  <a:srgbClr val="FF0000"/>
                </a:solidFill>
              </a:rPr>
              <a:t>    </a:t>
            </a:r>
            <a:r>
              <a:rPr lang="en-US" altLang="zh-CN" b="1" dirty="0"/>
              <a:t>-f </a:t>
            </a:r>
            <a:r>
              <a:rPr lang="en-US" altLang="zh-CN" dirty="0"/>
              <a:t>fs_file.dilutetodensity0.01 </a:t>
            </a:r>
            <a:r>
              <a:rPr lang="en-US" altLang="zh-CN" b="1" dirty="0"/>
              <a:t>-m</a:t>
            </a:r>
            <a:r>
              <a:rPr lang="en-US" altLang="zh-CN" dirty="0"/>
              <a:t> </a:t>
            </a:r>
            <a:r>
              <a:rPr lang="en-US" altLang="zh-CN" dirty="0">
                <a:solidFill>
                  <a:srgbClr val="00B050"/>
                </a:solidFill>
              </a:rPr>
              <a:t>split_mig_1_IM</a:t>
            </a:r>
            <a:r>
              <a:rPr lang="en-US" altLang="zh-CN" dirty="0"/>
              <a:t>  -</a:t>
            </a:r>
            <a:r>
              <a:rPr lang="en-US" altLang="zh-CN" b="1" dirty="0"/>
              <a:t>p</a:t>
            </a:r>
            <a:r>
              <a:rPr lang="en-US" altLang="zh-CN" dirty="0">
                <a:solidFill>
                  <a:srgbClr val="FF0000"/>
                </a:solidFill>
              </a:rPr>
              <a:t> </a:t>
            </a:r>
            <a:r>
              <a:rPr lang="en-US" altLang="zh-CN" dirty="0" err="1"/>
              <a:t>nuA</a:t>
            </a:r>
            <a:r>
              <a:rPr lang="en-US" altLang="zh-CN" dirty="0"/>
              <a:t> 2 1e-05 50 -</a:t>
            </a:r>
            <a:r>
              <a:rPr lang="en-US" altLang="zh-CN" b="1" dirty="0"/>
              <a:t>p</a:t>
            </a:r>
            <a:r>
              <a:rPr lang="en-US" altLang="zh-CN" dirty="0"/>
              <a:t> s 0.5 0 1 -</a:t>
            </a:r>
            <a:r>
              <a:rPr lang="en-US" altLang="zh-CN" b="1" dirty="0"/>
              <a:t>p</a:t>
            </a:r>
            <a:r>
              <a:rPr lang="en-US" altLang="zh-CN" dirty="0"/>
              <a:t> TA 0.3 1e-06 10 -</a:t>
            </a:r>
            <a:r>
              <a:rPr lang="en-US" altLang="zh-CN" b="1" dirty="0"/>
              <a:t>p</a:t>
            </a:r>
            <a:r>
              <a:rPr lang="en-US" altLang="zh-CN" dirty="0"/>
              <a:t> TS 0.1 1e-06 5  -</a:t>
            </a:r>
            <a:r>
              <a:rPr lang="en-US" altLang="zh-CN" b="1" dirty="0"/>
              <a:t>p</a:t>
            </a:r>
            <a:r>
              <a:rPr lang="en-US" altLang="zh-CN" dirty="0"/>
              <a:t> m12 1 1e-06 8 -</a:t>
            </a:r>
            <a:r>
              <a:rPr lang="en-US" altLang="zh-CN" b="1" dirty="0"/>
              <a:t>p</a:t>
            </a:r>
            <a:r>
              <a:rPr lang="en-US" altLang="zh-CN" dirty="0"/>
              <a:t> m21 1 1e-06 8 </a:t>
            </a:r>
            <a:r>
              <a:rPr lang="en-US" altLang="zh-CN" b="1" dirty="0"/>
              <a:t>-l</a:t>
            </a:r>
            <a:r>
              <a:rPr lang="en-US" altLang="zh-CN" dirty="0"/>
              <a:t> 480650.4721472733 </a:t>
            </a:r>
            <a:r>
              <a:rPr lang="en-US" altLang="zh-CN" b="1" dirty="0"/>
              <a:t>-T</a:t>
            </a:r>
            <a:r>
              <a:rPr lang="en-US" altLang="zh-CN" dirty="0"/>
              <a:t> </a:t>
            </a:r>
            <a:r>
              <a:rPr lang="en-US" altLang="zh-CN" dirty="0" err="1"/>
              <a:t>m_d</a:t>
            </a:r>
            <a:r>
              <a:rPr lang="en-US" altLang="zh-CN" dirty="0"/>
              <a:t> </a:t>
            </a:r>
            <a:r>
              <a:rPr lang="en-US" altLang="zh-CN" b="1" dirty="0"/>
              <a:t>-b</a:t>
            </a:r>
            <a:r>
              <a:rPr lang="en-US" altLang="zh-CN" dirty="0"/>
              <a:t> 100 15</a:t>
            </a:r>
          </a:p>
          <a:p>
            <a:pPr marL="514350" indent="-514350">
              <a:buFont typeface="+mj-lt"/>
              <a:buAutoNum type="arabicPeriod"/>
            </a:pPr>
            <a:r>
              <a:rPr lang="en-US" altLang="zh-CN" dirty="0"/>
              <a:t>-</a:t>
            </a:r>
            <a:r>
              <a:rPr lang="en-US" altLang="zh-CN" b="1" dirty="0"/>
              <a:t>b 100 15</a:t>
            </a:r>
            <a:r>
              <a:rPr lang="en-US" altLang="zh-CN" dirty="0"/>
              <a:t>, indicate running 100 times simulations ,terminate this simulation run when its running time beyond 15 </a:t>
            </a:r>
            <a:r>
              <a:rPr lang="en-US" altLang="zh-CN" dirty="0" err="1"/>
              <a:t>mins</a:t>
            </a:r>
            <a:endParaRPr lang="en-US" altLang="zh-CN" dirty="0"/>
          </a:p>
        </p:txBody>
      </p:sp>
      <mc:AlternateContent xmlns:mc="http://schemas.openxmlformats.org/markup-compatibility/2006" xmlns:a14="http://schemas.microsoft.com/office/drawing/2010/main">
        <mc:Choice Requires="a14">
          <p:sp>
            <p:nvSpPr>
              <p:cNvPr id="6" name="TextBox 5"/>
              <p:cNvSpPr txBox="1"/>
              <p:nvPr/>
            </p:nvSpPr>
            <p:spPr>
              <a:xfrm>
                <a:off x="0" y="0"/>
                <a:ext cx="9139472" cy="369332"/>
              </a:xfrm>
              <a:prstGeom prst="rect">
                <a:avLst/>
              </a:prstGeom>
              <a:noFill/>
            </p:spPr>
            <p:txBody>
              <a:bodyPr wrap="square" rtlCol="0">
                <a:spAutoFit/>
              </a:bodyPr>
              <a:lstStyle/>
              <a:p>
                <a14:m>
                  <m:oMath xmlns:m="http://schemas.openxmlformats.org/officeDocument/2006/math">
                    <m:r>
                      <a:rPr lang="en-US" altLang="zh-CN" smtClean="0">
                        <a:latin typeface="Cambria Math"/>
                      </a:rPr>
                      <m:t>𝜕</m:t>
                    </m:r>
                  </m:oMath>
                </a14:m>
                <a:r>
                  <a:rPr lang="en-US" altLang="zh-CN" dirty="0"/>
                  <a:t>a</a:t>
                </a:r>
                <a14:m>
                  <m:oMath xmlns:m="http://schemas.openxmlformats.org/officeDocument/2006/math">
                    <m:r>
                      <a:rPr lang="en-US" altLang="zh-CN">
                        <a:latin typeface="Cambria Math"/>
                      </a:rPr>
                      <m:t>𝜕</m:t>
                    </m:r>
                    <m:r>
                      <m:rPr>
                        <m:sty m:val="p"/>
                      </m:rPr>
                      <a:rPr lang="en-US" altLang="zh-CN" b="0" i="0" smtClean="0">
                        <a:latin typeface="Cambria Math"/>
                      </a:rPr>
                      <m:t>i</m:t>
                    </m:r>
                    <m:r>
                      <a:rPr lang="en-US" altLang="zh-CN" b="0" i="0" smtClean="0">
                        <a:latin typeface="Cambria Math"/>
                      </a:rPr>
                      <m:t> </m:t>
                    </m:r>
                    <m:r>
                      <m:rPr>
                        <m:sty m:val="p"/>
                      </m:rPr>
                      <a:rPr lang="en-US" altLang="zh-CN" b="0" i="0" smtClean="0">
                        <a:latin typeface="Cambria Math"/>
                      </a:rPr>
                      <m:t>simulation</m:t>
                    </m:r>
                  </m:oMath>
                </a14:m>
                <a:r>
                  <a:rPr lang="en-US" altLang="zh-CN" dirty="0"/>
                  <a:t> : bootstrapdadisimulation.py</a:t>
                </a:r>
                <a:endParaRPr lang="zh-CN" alt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0" y="0"/>
                <a:ext cx="9139472" cy="369332"/>
              </a:xfrm>
              <a:prstGeom prst="rect">
                <a:avLst/>
              </a:prstGeom>
              <a:blipFill rotWithShape="1">
                <a:blip r:embed="rId2"/>
                <a:stretch>
                  <a:fillRect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3068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t>overview</a:t>
            </a:r>
            <a:endParaRPr lang="zh-CN" altLang="en-US" sz="3200" dirty="0"/>
          </a:p>
        </p:txBody>
      </p:sp>
      <p:sp>
        <p:nvSpPr>
          <p:cNvPr id="3" name="内容占位符 2"/>
          <p:cNvSpPr>
            <a:spLocks noGrp="1"/>
          </p:cNvSpPr>
          <p:nvPr>
            <p:ph idx="1"/>
          </p:nvPr>
        </p:nvSpPr>
        <p:spPr>
          <a:xfrm>
            <a:off x="457200" y="1196752"/>
            <a:ext cx="8229600" cy="5328592"/>
          </a:xfrm>
        </p:spPr>
        <p:txBody>
          <a:bodyPr>
            <a:normAutofit/>
          </a:bodyPr>
          <a:lstStyle/>
          <a:p>
            <a:r>
              <a:rPr lang="en-US" altLang="zh-CN" sz="2400" dirty="0"/>
              <a:t>VCF variant annotation program</a:t>
            </a:r>
          </a:p>
          <a:p>
            <a:r>
              <a:rPr lang="en-US" altLang="zh-CN" sz="2400" dirty="0"/>
              <a:t>Classify SNPs according its location in intron, </a:t>
            </a:r>
            <a:r>
              <a:rPr lang="en-US" altLang="zh-CN" sz="2400" dirty="0" err="1"/>
              <a:t>utr</a:t>
            </a:r>
            <a:r>
              <a:rPr lang="en-US" altLang="zh-CN" sz="2400" dirty="0"/>
              <a:t>, </a:t>
            </a:r>
            <a:r>
              <a:rPr lang="en-US" altLang="zh-CN" sz="2400" dirty="0" err="1"/>
              <a:t>intergenetic</a:t>
            </a:r>
            <a:r>
              <a:rPr lang="en-US" altLang="zh-CN" sz="2400" dirty="0"/>
              <a:t> or synonymous and </a:t>
            </a:r>
            <a:r>
              <a:rPr lang="en-US" altLang="zh-CN" sz="2400" dirty="0" err="1"/>
              <a:t>nosynonymous</a:t>
            </a:r>
            <a:endParaRPr lang="en-US" altLang="zh-CN" sz="2400" dirty="0"/>
          </a:p>
          <a:p>
            <a:r>
              <a:rPr lang="en-US" altLang="zh-CN" sz="2400" dirty="0"/>
              <a:t>Translate mutation CDS into mutation AA </a:t>
            </a:r>
            <a:r>
              <a:rPr lang="en-US" altLang="zh-CN" sz="2400" dirty="0" err="1"/>
              <a:t>seq</a:t>
            </a:r>
            <a:endParaRPr lang="zh-CN" altLang="en-US" sz="2400" dirty="0"/>
          </a:p>
        </p:txBody>
      </p:sp>
      <p:sp>
        <p:nvSpPr>
          <p:cNvPr id="4" name="TextBox 3"/>
          <p:cNvSpPr txBox="1"/>
          <p:nvPr/>
        </p:nvSpPr>
        <p:spPr>
          <a:xfrm>
            <a:off x="0" y="0"/>
            <a:ext cx="9139472" cy="369332"/>
          </a:xfrm>
          <a:prstGeom prst="rect">
            <a:avLst/>
          </a:prstGeom>
          <a:noFill/>
        </p:spPr>
        <p:txBody>
          <a:bodyPr wrap="square" rtlCol="0">
            <a:spAutoFit/>
          </a:bodyPr>
          <a:lstStyle/>
          <a:p>
            <a:r>
              <a:rPr lang="en-US" altLang="zh-CN" dirty="0"/>
              <a:t>CatalogSNP_getAAseq_CDSseq.py</a:t>
            </a:r>
            <a:endParaRPr lang="zh-CN" altLang="en-US" dirty="0"/>
          </a:p>
        </p:txBody>
      </p:sp>
      <p:sp>
        <p:nvSpPr>
          <p:cNvPr id="5" name="矩形 4"/>
          <p:cNvSpPr/>
          <p:nvPr/>
        </p:nvSpPr>
        <p:spPr>
          <a:xfrm>
            <a:off x="3399361" y="3816037"/>
            <a:ext cx="1728192" cy="1152128"/>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CatalogSNP_withaaseq_cdsseq.py</a:t>
            </a:r>
            <a:endParaRPr lang="zh-CN" altLang="en-US" dirty="0">
              <a:solidFill>
                <a:schemeClr val="tx1"/>
              </a:solidFill>
            </a:endParaRPr>
          </a:p>
        </p:txBody>
      </p:sp>
      <p:sp>
        <p:nvSpPr>
          <p:cNvPr id="6" name="TextBox 5"/>
          <p:cNvSpPr txBox="1"/>
          <p:nvPr/>
        </p:nvSpPr>
        <p:spPr>
          <a:xfrm>
            <a:off x="0" y="2970232"/>
            <a:ext cx="2928571" cy="4247317"/>
          </a:xfrm>
          <a:prstGeom prst="rect">
            <a:avLst/>
          </a:prstGeom>
          <a:noFill/>
        </p:spPr>
        <p:txBody>
          <a:bodyPr wrap="square" rtlCol="0">
            <a:spAutoFit/>
          </a:bodyPr>
          <a:lstStyle/>
          <a:p>
            <a:r>
              <a:rPr lang="en-US" altLang="zh-CN" dirty="0"/>
              <a:t>-v SNPs </a:t>
            </a:r>
            <a:r>
              <a:rPr lang="en-US" altLang="zh-CN" dirty="0" err="1"/>
              <a:t>mysql</a:t>
            </a:r>
            <a:r>
              <a:rPr lang="zh-CN" altLang="en-US" dirty="0"/>
              <a:t> </a:t>
            </a:r>
            <a:r>
              <a:rPr lang="en-US" altLang="zh-CN" dirty="0"/>
              <a:t>table name</a:t>
            </a:r>
          </a:p>
          <a:p>
            <a:r>
              <a:rPr lang="en-US" altLang="zh-CN" dirty="0"/>
              <a:t>-V VCF file name</a:t>
            </a:r>
          </a:p>
          <a:p>
            <a:r>
              <a:rPr lang="en-US" altLang="zh-CN" dirty="0"/>
              <a:t>-r reference </a:t>
            </a:r>
            <a:r>
              <a:rPr lang="en-US" altLang="zh-CN" dirty="0" err="1"/>
              <a:t>fasta</a:t>
            </a:r>
            <a:r>
              <a:rPr lang="en-US" altLang="zh-CN" dirty="0"/>
              <a:t> file</a:t>
            </a:r>
          </a:p>
          <a:p>
            <a:r>
              <a:rPr lang="en-US" altLang="zh-CN" dirty="0"/>
              <a:t>-g GTF file</a:t>
            </a:r>
          </a:p>
          <a:p>
            <a:r>
              <a:rPr lang="en-US" altLang="zh-CN" dirty="0"/>
              <a:t>-o output path</a:t>
            </a:r>
          </a:p>
          <a:p>
            <a:r>
              <a:rPr lang="en-US" altLang="zh-CN" dirty="0"/>
              <a:t>-b bed</a:t>
            </a:r>
            <a:r>
              <a:rPr lang="zh-CN" altLang="en-US" dirty="0"/>
              <a:t> </a:t>
            </a:r>
            <a:r>
              <a:rPr lang="en-US" altLang="zh-CN" dirty="0"/>
              <a:t>file</a:t>
            </a:r>
            <a:r>
              <a:rPr lang="zh-CN" altLang="en-US" dirty="0"/>
              <a:t>（</a:t>
            </a:r>
            <a:r>
              <a:rPr lang="en-US" altLang="zh-CN" dirty="0"/>
              <a:t>…</a:t>
            </a:r>
            <a:r>
              <a:rPr lang="en-US" altLang="zh-CN" dirty="0" err="1"/>
              <a:t>ing</a:t>
            </a:r>
            <a:r>
              <a:rPr lang="zh-CN" altLang="en-US" dirty="0"/>
              <a:t>）</a:t>
            </a:r>
            <a:endParaRPr lang="en-US" altLang="zh-CN" dirty="0"/>
          </a:p>
          <a:p>
            <a:r>
              <a:rPr lang="en-US" altLang="zh-CN" dirty="0"/>
              <a:t>-m min length of the scaffolds (for –v only)</a:t>
            </a:r>
          </a:p>
          <a:p>
            <a:r>
              <a:rPr lang="en-US" altLang="zh-CN" dirty="0"/>
              <a:t>-5,-3 define distance from the start/stop codon as 5’/3’ UTR, in the case UTR annotation are absent in GTF annotation </a:t>
            </a:r>
          </a:p>
          <a:p>
            <a:endParaRPr lang="en-US" altLang="zh-CN" dirty="0"/>
          </a:p>
          <a:p>
            <a:endParaRPr lang="zh-CN" altLang="en-US" dirty="0"/>
          </a:p>
        </p:txBody>
      </p:sp>
      <p:sp>
        <p:nvSpPr>
          <p:cNvPr id="7" name="右大括号 6"/>
          <p:cNvSpPr/>
          <p:nvPr/>
        </p:nvSpPr>
        <p:spPr>
          <a:xfrm>
            <a:off x="2555776" y="3816037"/>
            <a:ext cx="432048" cy="115212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箭头 7"/>
          <p:cNvSpPr/>
          <p:nvPr/>
        </p:nvSpPr>
        <p:spPr>
          <a:xfrm>
            <a:off x="5215103" y="4392101"/>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2859809" y="4392101"/>
            <a:ext cx="539552"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2779556" y="4067780"/>
            <a:ext cx="699569" cy="369332"/>
          </a:xfrm>
          <a:prstGeom prst="rect">
            <a:avLst/>
          </a:prstGeom>
          <a:noFill/>
        </p:spPr>
        <p:txBody>
          <a:bodyPr wrap="square" rtlCol="0">
            <a:spAutoFit/>
          </a:bodyPr>
          <a:lstStyle/>
          <a:p>
            <a:r>
              <a:rPr lang="en-US" altLang="zh-CN" dirty="0"/>
              <a:t>input</a:t>
            </a:r>
            <a:endParaRPr lang="zh-CN" altLang="en-US" dirty="0"/>
          </a:p>
        </p:txBody>
      </p:sp>
      <p:sp>
        <p:nvSpPr>
          <p:cNvPr id="11" name="TextBox 10"/>
          <p:cNvSpPr txBox="1"/>
          <p:nvPr/>
        </p:nvSpPr>
        <p:spPr>
          <a:xfrm>
            <a:off x="6372952" y="2766111"/>
            <a:ext cx="2793952" cy="3970318"/>
          </a:xfrm>
          <a:prstGeom prst="rect">
            <a:avLst/>
          </a:prstGeom>
          <a:noFill/>
        </p:spPr>
        <p:txBody>
          <a:bodyPr wrap="square" rtlCol="0">
            <a:spAutoFit/>
          </a:bodyPr>
          <a:lstStyle/>
          <a:p>
            <a:r>
              <a:rPr lang="en-US" altLang="zh-CN" dirty="0"/>
              <a:t>.</a:t>
            </a:r>
            <a:r>
              <a:rPr lang="en-US" altLang="zh-CN" dirty="0" err="1"/>
              <a:t>cds</a:t>
            </a:r>
            <a:r>
              <a:rPr lang="zh-CN" altLang="en-US" dirty="0"/>
              <a:t> </a:t>
            </a:r>
            <a:r>
              <a:rPr lang="en-US" altLang="zh-CN" dirty="0"/>
              <a:t>file:</a:t>
            </a:r>
            <a:r>
              <a:rPr lang="zh-CN" altLang="en-US" dirty="0"/>
              <a:t> </a:t>
            </a:r>
            <a:r>
              <a:rPr lang="en-US" altLang="zh-CN" dirty="0"/>
              <a:t>SNPs annotation  of CDS region</a:t>
            </a:r>
          </a:p>
          <a:p>
            <a:r>
              <a:rPr lang="en-US" altLang="zh-CN" dirty="0"/>
              <a:t>.UTR file:</a:t>
            </a:r>
          </a:p>
          <a:p>
            <a:r>
              <a:rPr lang="en-US" altLang="zh-CN" dirty="0"/>
              <a:t>. Intergenic</a:t>
            </a:r>
            <a:r>
              <a:rPr lang="zh-CN" altLang="en-US" dirty="0"/>
              <a:t>  </a:t>
            </a:r>
            <a:r>
              <a:rPr lang="en-US" altLang="zh-CN" dirty="0"/>
              <a:t>file: </a:t>
            </a:r>
          </a:p>
          <a:p>
            <a:r>
              <a:rPr lang="en-US" altLang="zh-CN" dirty="0"/>
              <a:t>.</a:t>
            </a:r>
            <a:r>
              <a:rPr lang="en-US" altLang="zh-CN" dirty="0" err="1"/>
              <a:t>utr</a:t>
            </a:r>
            <a:r>
              <a:rPr lang="zh-CN" altLang="en-US" dirty="0"/>
              <a:t> </a:t>
            </a:r>
            <a:r>
              <a:rPr lang="en-US" altLang="zh-CN" dirty="0"/>
              <a:t>file :</a:t>
            </a:r>
          </a:p>
          <a:p>
            <a:r>
              <a:rPr lang="en-US" altLang="zh-CN" dirty="0"/>
              <a:t>.intron file:</a:t>
            </a:r>
          </a:p>
          <a:p>
            <a:r>
              <a:rPr lang="en-US" altLang="zh-CN" dirty="0"/>
              <a:t>.</a:t>
            </a:r>
            <a:r>
              <a:rPr lang="en-US" altLang="zh-CN" dirty="0" err="1"/>
              <a:t>mutcds</a:t>
            </a:r>
            <a:r>
              <a:rPr lang="en-US" altLang="zh-CN" dirty="0"/>
              <a:t> file</a:t>
            </a:r>
            <a:r>
              <a:rPr lang="zh-CN" altLang="en-US" dirty="0"/>
              <a:t>：</a:t>
            </a:r>
            <a:r>
              <a:rPr lang="en-US" altLang="zh-CN" dirty="0"/>
              <a:t>fill mutate SNPs into CDS sequence</a:t>
            </a:r>
          </a:p>
          <a:p>
            <a:r>
              <a:rPr lang="en-US" altLang="zh-CN" dirty="0"/>
              <a:t>.</a:t>
            </a:r>
            <a:r>
              <a:rPr lang="en-US" altLang="zh-CN" dirty="0" err="1"/>
              <a:t>mutaa</a:t>
            </a:r>
            <a:r>
              <a:rPr lang="en-US" altLang="zh-CN" dirty="0"/>
              <a:t> file: translate mutate CDS sequence in to amino acid sequence</a:t>
            </a:r>
          </a:p>
          <a:p>
            <a:r>
              <a:rPr lang="en-US" altLang="zh-CN" dirty="0"/>
              <a:t>.</a:t>
            </a:r>
            <a:r>
              <a:rPr lang="en-US" altLang="zh-CN" dirty="0" err="1"/>
              <a:t>refaa</a:t>
            </a:r>
            <a:r>
              <a:rPr lang="zh-CN" altLang="en-US" dirty="0"/>
              <a:t> </a:t>
            </a:r>
            <a:r>
              <a:rPr lang="en-US" altLang="zh-CN" dirty="0"/>
              <a:t>file: original amino acid </a:t>
            </a:r>
            <a:r>
              <a:rPr lang="en-US" altLang="zh-CN" dirty="0" err="1"/>
              <a:t>sequcenc</a:t>
            </a:r>
            <a:r>
              <a:rPr lang="en-US" altLang="zh-CN" dirty="0"/>
              <a:t>.</a:t>
            </a:r>
          </a:p>
          <a:p>
            <a:endParaRPr lang="en-US" altLang="zh-CN" dirty="0"/>
          </a:p>
        </p:txBody>
      </p:sp>
      <p:sp>
        <p:nvSpPr>
          <p:cNvPr id="12" name="TextBox 11"/>
          <p:cNvSpPr txBox="1"/>
          <p:nvPr/>
        </p:nvSpPr>
        <p:spPr>
          <a:xfrm>
            <a:off x="5127553" y="4104939"/>
            <a:ext cx="869107" cy="369332"/>
          </a:xfrm>
          <a:prstGeom prst="rect">
            <a:avLst/>
          </a:prstGeom>
          <a:noFill/>
        </p:spPr>
        <p:txBody>
          <a:bodyPr wrap="square" rtlCol="0">
            <a:spAutoFit/>
          </a:bodyPr>
          <a:lstStyle/>
          <a:p>
            <a:r>
              <a:rPr lang="en-US" altLang="zh-CN" dirty="0"/>
              <a:t>output</a:t>
            </a:r>
            <a:endParaRPr lang="zh-CN" altLang="en-US" dirty="0"/>
          </a:p>
        </p:txBody>
      </p:sp>
      <p:sp>
        <p:nvSpPr>
          <p:cNvPr id="13" name="左大括号 12"/>
          <p:cNvSpPr/>
          <p:nvPr/>
        </p:nvSpPr>
        <p:spPr>
          <a:xfrm>
            <a:off x="5996660" y="3600013"/>
            <a:ext cx="377145" cy="1800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686708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t>GO enrichment analysis were implemented in </a:t>
            </a:r>
            <a:r>
              <a:rPr lang="en-US" altLang="zh-CN" sz="3200" dirty="0" err="1"/>
              <a:t>GOenrichment</a:t>
            </a:r>
            <a:r>
              <a:rPr lang="en-US" altLang="zh-CN" sz="3200" dirty="0"/>
              <a:t>() </a:t>
            </a:r>
            <a:r>
              <a:rPr lang="en-US" altLang="zh-CN" sz="3200" dirty="0" err="1"/>
              <a:t>func</a:t>
            </a:r>
            <a:r>
              <a:rPr lang="en-US" altLang="zh-CN" sz="3200" dirty="0"/>
              <a:t> in geneUtil.py</a:t>
            </a:r>
            <a:endParaRPr lang="zh-CN" altLang="en-US" sz="3200" dirty="0"/>
          </a:p>
        </p:txBody>
      </p:sp>
      <p:sp>
        <p:nvSpPr>
          <p:cNvPr id="3" name="内容占位符 2"/>
          <p:cNvSpPr>
            <a:spLocks noGrp="1"/>
          </p:cNvSpPr>
          <p:nvPr>
            <p:ph idx="1"/>
          </p:nvPr>
        </p:nvSpPr>
        <p:spPr/>
        <p:txBody>
          <a:bodyPr/>
          <a:lstStyle/>
          <a:p>
            <a:r>
              <a:rPr lang="en-US" altLang="zh-CN" dirty="0"/>
              <a:t>Fisher’s Exact Test</a:t>
            </a:r>
          </a:p>
          <a:p>
            <a:r>
              <a:rPr lang="en-US" altLang="zh-CN" dirty="0" err="1"/>
              <a:t>gotablefile</a:t>
            </a:r>
            <a:r>
              <a:rPr lang="en-US" altLang="zh-CN" dirty="0"/>
              <a:t> could download from </a:t>
            </a:r>
            <a:r>
              <a:rPr lang="en-US" altLang="zh-CN" dirty="0" err="1"/>
              <a:t>ensembl</a:t>
            </a:r>
            <a:r>
              <a:rPr lang="en-US" altLang="zh-CN" dirty="0"/>
              <a:t> </a:t>
            </a:r>
            <a:r>
              <a:rPr lang="en-US" altLang="zh-CN" dirty="0" err="1"/>
              <a:t>biomart</a:t>
            </a:r>
            <a:r>
              <a:rPr lang="en-US" altLang="zh-CN" dirty="0"/>
              <a:t> . An example were given “</a:t>
            </a:r>
            <a:r>
              <a:rPr lang="en-US" altLang="zh-CN" dirty="0" err="1"/>
              <a:t>gotablefile.lite</a:t>
            </a:r>
            <a:r>
              <a:rPr lang="en-US" altLang="zh-CN"/>
              <a:t>”</a:t>
            </a:r>
            <a:endParaRPr lang="zh-CN" altLang="en-US" dirty="0"/>
          </a:p>
        </p:txBody>
      </p:sp>
    </p:spTree>
    <p:extLst>
      <p:ext uri="{BB962C8B-B14F-4D97-AF65-F5344CB8AC3E}">
        <p14:creationId xmlns:p14="http://schemas.microsoft.com/office/powerpoint/2010/main" val="115285625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1948</TotalTime>
  <Words>2346</Words>
  <Application>Microsoft Office PowerPoint</Application>
  <PresentationFormat>全屏显示(4:3)</PresentationFormat>
  <Paragraphs>246</Paragraphs>
  <Slides>27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27</vt:i4>
      </vt:variant>
    </vt:vector>
  </HeadingPairs>
  <TitlesOfParts>
    <vt:vector size="33" baseType="lpstr">
      <vt:lpstr>等线</vt:lpstr>
      <vt:lpstr>宋体</vt:lpstr>
      <vt:lpstr>Arial</vt:lpstr>
      <vt:lpstr>Calibri</vt:lpstr>
      <vt:lpstr>Cambria Math</vt:lpstr>
      <vt:lpstr>Office 主题</vt:lpstr>
      <vt:lpstr>Life software project</vt:lpstr>
      <vt:lpstr>web interaction 0.1 edition is available (python3 autodemo.py)</vt:lpstr>
      <vt:lpstr>鸭进化项目的下机数据的目录结构</vt:lpstr>
      <vt:lpstr>PowerPoint 演示文稿</vt:lpstr>
      <vt:lpstr>程序运行监控</vt:lpstr>
      <vt:lpstr>PowerPoint 演示文稿</vt:lpstr>
      <vt:lpstr>data management and visualization module</vt:lpstr>
      <vt:lpstr>PowerPoint 演示文稿</vt:lpstr>
      <vt:lpstr>analysis pipeline management module</vt:lpstr>
      <vt:lpstr>Data store and naming agreement</vt:lpstr>
      <vt:lpstr>Scripts template </vt:lpstr>
      <vt:lpstr>Produce scripts for every individual paired fq files according the template </vt:lpstr>
      <vt:lpstr>mode 1 results (many input to many output)</vt:lpstr>
      <vt:lpstr>Mode 2: many input to one output</vt:lpstr>
      <vt:lpstr>Task and record management module</vt:lpstr>
      <vt:lpstr>PowerPoint 演示文稿</vt:lpstr>
      <vt:lpstr> analysis module</vt:lpstr>
      <vt:lpstr>overview</vt:lpstr>
      <vt:lpstr>usage</vt:lpstr>
      <vt:lpstr>-T/-R mallard.VCFBAMconfig  file</vt:lpstr>
      <vt:lpstr>-c pekingduckchrominfo.autosomescaffolds_1</vt:lpstr>
      <vt:lpstr>-t mspsgjlksy10pop_toplevel_pekingduckref</vt:lpstr>
      <vt:lpstr>config.properties file</vt:lpstr>
      <vt:lpstr>overview</vt:lpstr>
      <vt:lpstr>usage</vt:lpstr>
      <vt:lpstr>overview</vt:lpstr>
      <vt:lpstr>GO enrichment analysis were implemented in GOenrichment() func in geneUtil.py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software project</dc:title>
  <dc:creator>liurui</dc:creator>
  <cp:lastModifiedBy>Dr.liu</cp:lastModifiedBy>
  <cp:revision>108</cp:revision>
  <dcterms:created xsi:type="dcterms:W3CDTF">2017-05-08T05:36:38Z</dcterms:created>
  <dcterms:modified xsi:type="dcterms:W3CDTF">2018-03-28T02:43:52Z</dcterms:modified>
</cp:coreProperties>
</file>